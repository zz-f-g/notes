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99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  <p:sldId id="387" r:id="rId134"/>
    <p:sldId id="388" r:id="rId135"/>
    <p:sldId id="389" r:id="rId136"/>
    <p:sldId id="390" r:id="rId137"/>
    <p:sldId id="391" r:id="rId138"/>
    <p:sldId id="392" r:id="rId139"/>
    <p:sldId id="393" r:id="rId140"/>
    <p:sldId id="394" r:id="rId141"/>
    <p:sldId id="395" r:id="rId142"/>
    <p:sldId id="396" r:id="rId143"/>
    <p:sldId id="397" r:id="rId144"/>
    <p:sldId id="398" r:id="rId14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24" d="100"/>
          <a:sy n="124" d="100"/>
        </p:scale>
        <p:origin x="106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ableStyles" Target="tableStyle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microsoft.com/office/2016/11/relationships/changesInfo" Target="changesInfos/changesInfo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76386b9b250400ad" providerId="LiveId" clId="{416D1C2C-F332-4E9C-ADD6-EB09C6ECFACE}"/>
    <pc:docChg chg="undo custSel addSld modSld">
      <pc:chgData name="" userId="76386b9b250400ad" providerId="LiveId" clId="{416D1C2C-F332-4E9C-ADD6-EB09C6ECFACE}" dt="2022-05-14T10:34:12.150" v="56" actId="27636"/>
      <pc:docMkLst>
        <pc:docMk/>
      </pc:docMkLst>
      <pc:sldChg chg="modSp">
        <pc:chgData name="" userId="76386b9b250400ad" providerId="LiveId" clId="{416D1C2C-F332-4E9C-ADD6-EB09C6ECFACE}" dt="2022-05-14T10:34:12.150" v="56" actId="27636"/>
        <pc:sldMkLst>
          <pc:docMk/>
          <pc:sldMk cId="0" sldId="271"/>
        </pc:sldMkLst>
        <pc:spChg chg="mod">
          <ac:chgData name="" userId="76386b9b250400ad" providerId="LiveId" clId="{416D1C2C-F332-4E9C-ADD6-EB09C6ECFACE}" dt="2022-05-14T10:34:12.150" v="56" actId="27636"/>
          <ac:spMkLst>
            <pc:docMk/>
            <pc:sldMk cId="0" sldId="271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8.072" v="46" actId="27636"/>
        <pc:sldMkLst>
          <pc:docMk/>
          <pc:sldMk cId="0" sldId="273"/>
        </pc:sldMkLst>
        <pc:spChg chg="mod">
          <ac:chgData name="" userId="76386b9b250400ad" providerId="LiveId" clId="{416D1C2C-F332-4E9C-ADD6-EB09C6ECFACE}" dt="2022-05-14T10:34:08.072" v="46" actId="27636"/>
          <ac:spMkLst>
            <pc:docMk/>
            <pc:sldMk cId="0" sldId="273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3:58.468" v="22" actId="27636"/>
        <pc:sldMkLst>
          <pc:docMk/>
          <pc:sldMk cId="0" sldId="274"/>
        </pc:sldMkLst>
        <pc:spChg chg="mod">
          <ac:chgData name="" userId="76386b9b250400ad" providerId="LiveId" clId="{416D1C2C-F332-4E9C-ADD6-EB09C6ECFACE}" dt="2022-05-14T10:33:58.468" v="22" actId="27636"/>
          <ac:spMkLst>
            <pc:docMk/>
            <pc:sldMk cId="0" sldId="274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3:58.722" v="23" actId="27636"/>
        <pc:sldMkLst>
          <pc:docMk/>
          <pc:sldMk cId="0" sldId="278"/>
        </pc:sldMkLst>
        <pc:spChg chg="mod">
          <ac:chgData name="" userId="76386b9b250400ad" providerId="LiveId" clId="{416D1C2C-F332-4E9C-ADD6-EB09C6ECFACE}" dt="2022-05-14T10:33:58.722" v="23" actId="27636"/>
          <ac:spMkLst>
            <pc:docMk/>
            <pc:sldMk cId="0" sldId="278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3:58.914" v="24" actId="27636"/>
        <pc:sldMkLst>
          <pc:docMk/>
          <pc:sldMk cId="0" sldId="282"/>
        </pc:sldMkLst>
        <pc:spChg chg="mod">
          <ac:chgData name="" userId="76386b9b250400ad" providerId="LiveId" clId="{416D1C2C-F332-4E9C-ADD6-EB09C6ECFACE}" dt="2022-05-14T10:33:58.914" v="24" actId="27636"/>
          <ac:spMkLst>
            <pc:docMk/>
            <pc:sldMk cId="0" sldId="282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3:59.167" v="25" actId="27636"/>
        <pc:sldMkLst>
          <pc:docMk/>
          <pc:sldMk cId="0" sldId="285"/>
        </pc:sldMkLst>
        <pc:spChg chg="mod">
          <ac:chgData name="" userId="76386b9b250400ad" providerId="LiveId" clId="{416D1C2C-F332-4E9C-ADD6-EB09C6ECFACE}" dt="2022-05-14T10:33:59.167" v="25" actId="27636"/>
          <ac:spMkLst>
            <pc:docMk/>
            <pc:sldMk cId="0" sldId="285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3:59.477" v="26" actId="27636"/>
        <pc:sldMkLst>
          <pc:docMk/>
          <pc:sldMk cId="0" sldId="286"/>
        </pc:sldMkLst>
        <pc:spChg chg="mod">
          <ac:chgData name="" userId="76386b9b250400ad" providerId="LiveId" clId="{416D1C2C-F332-4E9C-ADD6-EB09C6ECFACE}" dt="2022-05-14T10:33:59.477" v="26" actId="27636"/>
          <ac:spMkLst>
            <pc:docMk/>
            <pc:sldMk cId="0" sldId="286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3:59.931" v="27" actId="27636"/>
        <pc:sldMkLst>
          <pc:docMk/>
          <pc:sldMk cId="0" sldId="287"/>
        </pc:sldMkLst>
        <pc:spChg chg="mod">
          <ac:chgData name="" userId="76386b9b250400ad" providerId="LiveId" clId="{416D1C2C-F332-4E9C-ADD6-EB09C6ECFACE}" dt="2022-05-14T10:33:59.931" v="27" actId="27636"/>
          <ac:spMkLst>
            <pc:docMk/>
            <pc:sldMk cId="0" sldId="287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0.398" v="28" actId="27636"/>
        <pc:sldMkLst>
          <pc:docMk/>
          <pc:sldMk cId="0" sldId="299"/>
        </pc:sldMkLst>
        <pc:spChg chg="mod">
          <ac:chgData name="" userId="76386b9b250400ad" providerId="LiveId" clId="{416D1C2C-F332-4E9C-ADD6-EB09C6ECFACE}" dt="2022-05-14T10:34:00.398" v="28" actId="27636"/>
          <ac:spMkLst>
            <pc:docMk/>
            <pc:sldMk cId="0" sldId="299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0.811" v="29" actId="27636"/>
        <pc:sldMkLst>
          <pc:docMk/>
          <pc:sldMk cId="0" sldId="303"/>
        </pc:sldMkLst>
        <pc:spChg chg="mod">
          <ac:chgData name="" userId="76386b9b250400ad" providerId="LiveId" clId="{416D1C2C-F332-4E9C-ADD6-EB09C6ECFACE}" dt="2022-05-14T10:34:00.811" v="29" actId="27636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1.032" v="30" actId="27636"/>
        <pc:sldMkLst>
          <pc:docMk/>
          <pc:sldMk cId="0" sldId="307"/>
        </pc:sldMkLst>
        <pc:spChg chg="mod">
          <ac:chgData name="" userId="76386b9b250400ad" providerId="LiveId" clId="{416D1C2C-F332-4E9C-ADD6-EB09C6ECFACE}" dt="2022-05-14T10:34:01.032" v="30" actId="27636"/>
          <ac:spMkLst>
            <pc:docMk/>
            <pc:sldMk cId="0" sldId="307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1.414" v="31" actId="27636"/>
        <pc:sldMkLst>
          <pc:docMk/>
          <pc:sldMk cId="0" sldId="311"/>
        </pc:sldMkLst>
        <pc:spChg chg="mod">
          <ac:chgData name="" userId="76386b9b250400ad" providerId="LiveId" clId="{416D1C2C-F332-4E9C-ADD6-EB09C6ECFACE}" dt="2022-05-14T10:34:01.414" v="31" actId="27636"/>
          <ac:spMkLst>
            <pc:docMk/>
            <pc:sldMk cId="0" sldId="311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1.497" v="32" actId="27636"/>
        <pc:sldMkLst>
          <pc:docMk/>
          <pc:sldMk cId="0" sldId="316"/>
        </pc:sldMkLst>
        <pc:spChg chg="mod">
          <ac:chgData name="" userId="76386b9b250400ad" providerId="LiveId" clId="{416D1C2C-F332-4E9C-ADD6-EB09C6ECFACE}" dt="2022-05-14T10:34:01.497" v="32" actId="27636"/>
          <ac:spMkLst>
            <pc:docMk/>
            <pc:sldMk cId="0" sldId="316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1.832" v="33" actId="27636"/>
        <pc:sldMkLst>
          <pc:docMk/>
          <pc:sldMk cId="0" sldId="324"/>
        </pc:sldMkLst>
        <pc:spChg chg="mod">
          <ac:chgData name="" userId="76386b9b250400ad" providerId="LiveId" clId="{416D1C2C-F332-4E9C-ADD6-EB09C6ECFACE}" dt="2022-05-14T10:34:01.832" v="33" actId="27636"/>
          <ac:spMkLst>
            <pc:docMk/>
            <pc:sldMk cId="0" sldId="324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2.139" v="34" actId="27636"/>
        <pc:sldMkLst>
          <pc:docMk/>
          <pc:sldMk cId="0" sldId="327"/>
        </pc:sldMkLst>
        <pc:spChg chg="mod">
          <ac:chgData name="" userId="76386b9b250400ad" providerId="LiveId" clId="{416D1C2C-F332-4E9C-ADD6-EB09C6ECFACE}" dt="2022-05-14T10:34:02.139" v="34" actId="27636"/>
          <ac:spMkLst>
            <pc:docMk/>
            <pc:sldMk cId="0" sldId="327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2.300" v="35" actId="27636"/>
        <pc:sldMkLst>
          <pc:docMk/>
          <pc:sldMk cId="0" sldId="329"/>
        </pc:sldMkLst>
        <pc:spChg chg="mod">
          <ac:chgData name="" userId="76386b9b250400ad" providerId="LiveId" clId="{416D1C2C-F332-4E9C-ADD6-EB09C6ECFACE}" dt="2022-05-14T10:34:02.300" v="35" actId="27636"/>
          <ac:spMkLst>
            <pc:docMk/>
            <pc:sldMk cId="0" sldId="329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4" v="36" actId="27636"/>
        <pc:sldMkLst>
          <pc:docMk/>
          <pc:sldMk cId="0" sldId="330"/>
        </pc:sldMkLst>
        <pc:spChg chg="mod">
          <ac:chgData name="" userId="76386b9b250400ad" providerId="LiveId" clId="{416D1C2C-F332-4E9C-ADD6-EB09C6ECFACE}" dt="2022-05-14T10:34:04" v="36" actId="27636"/>
          <ac:spMkLst>
            <pc:docMk/>
            <pc:sldMk cId="0" sldId="330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4.619" v="37" actId="27636"/>
        <pc:sldMkLst>
          <pc:docMk/>
          <pc:sldMk cId="0" sldId="338"/>
        </pc:sldMkLst>
        <pc:spChg chg="mod">
          <ac:chgData name="" userId="76386b9b250400ad" providerId="LiveId" clId="{416D1C2C-F332-4E9C-ADD6-EB09C6ECFACE}" dt="2022-05-14T10:34:04.619" v="37" actId="27636"/>
          <ac:spMkLst>
            <pc:docMk/>
            <pc:sldMk cId="0" sldId="338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4.850" v="38" actId="27636"/>
        <pc:sldMkLst>
          <pc:docMk/>
          <pc:sldMk cId="0" sldId="339"/>
        </pc:sldMkLst>
        <pc:spChg chg="mod">
          <ac:chgData name="" userId="76386b9b250400ad" providerId="LiveId" clId="{416D1C2C-F332-4E9C-ADD6-EB09C6ECFACE}" dt="2022-05-14T10:34:04.850" v="38" actId="27636"/>
          <ac:spMkLst>
            <pc:docMk/>
            <pc:sldMk cId="0" sldId="339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5.094" v="39" actId="27636"/>
        <pc:sldMkLst>
          <pc:docMk/>
          <pc:sldMk cId="0" sldId="341"/>
        </pc:sldMkLst>
        <pc:spChg chg="mod">
          <ac:chgData name="" userId="76386b9b250400ad" providerId="LiveId" clId="{416D1C2C-F332-4E9C-ADD6-EB09C6ECFACE}" dt="2022-05-14T10:34:05.094" v="39" actId="27636"/>
          <ac:spMkLst>
            <pc:docMk/>
            <pc:sldMk cId="0" sldId="341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5.785" v="40" actId="27636"/>
        <pc:sldMkLst>
          <pc:docMk/>
          <pc:sldMk cId="0" sldId="343"/>
        </pc:sldMkLst>
        <pc:spChg chg="mod">
          <ac:chgData name="" userId="76386b9b250400ad" providerId="LiveId" clId="{416D1C2C-F332-4E9C-ADD6-EB09C6ECFACE}" dt="2022-05-14T10:34:05.785" v="40" actId="27636"/>
          <ac:spMkLst>
            <pc:docMk/>
            <pc:sldMk cId="0" sldId="343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7.403" v="43" actId="27636"/>
        <pc:sldMkLst>
          <pc:docMk/>
          <pc:sldMk cId="0" sldId="344"/>
        </pc:sldMkLst>
        <pc:spChg chg="mod">
          <ac:chgData name="" userId="76386b9b250400ad" providerId="LiveId" clId="{416D1C2C-F332-4E9C-ADD6-EB09C6ECFACE}" dt="2022-05-14T10:34:07.403" v="43" actId="27636"/>
          <ac:spMkLst>
            <pc:docMk/>
            <pc:sldMk cId="0" sldId="344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7.909" v="44" actId="27636"/>
        <pc:sldMkLst>
          <pc:docMk/>
          <pc:sldMk cId="0" sldId="349"/>
        </pc:sldMkLst>
        <pc:spChg chg="mod">
          <ac:chgData name="" userId="76386b9b250400ad" providerId="LiveId" clId="{416D1C2C-F332-4E9C-ADD6-EB09C6ECFACE}" dt="2022-05-14T10:34:07.909" v="44" actId="27636"/>
          <ac:spMkLst>
            <pc:docMk/>
            <pc:sldMk cId="0" sldId="349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8.063" v="45" actId="27636"/>
        <pc:sldMkLst>
          <pc:docMk/>
          <pc:sldMk cId="0" sldId="358"/>
        </pc:sldMkLst>
        <pc:spChg chg="mod">
          <ac:chgData name="" userId="76386b9b250400ad" providerId="LiveId" clId="{416D1C2C-F332-4E9C-ADD6-EB09C6ECFACE}" dt="2022-05-14T10:34:08.063" v="45" actId="27636"/>
          <ac:spMkLst>
            <pc:docMk/>
            <pc:sldMk cId="0" sldId="358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8.108" v="47" actId="27636"/>
        <pc:sldMkLst>
          <pc:docMk/>
          <pc:sldMk cId="0" sldId="361"/>
        </pc:sldMkLst>
        <pc:spChg chg="mod">
          <ac:chgData name="" userId="76386b9b250400ad" providerId="LiveId" clId="{416D1C2C-F332-4E9C-ADD6-EB09C6ECFACE}" dt="2022-05-14T10:34:08.108" v="47" actId="27636"/>
          <ac:spMkLst>
            <pc:docMk/>
            <pc:sldMk cId="0" sldId="361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8.841" v="48" actId="27636"/>
        <pc:sldMkLst>
          <pc:docMk/>
          <pc:sldMk cId="0" sldId="366"/>
        </pc:sldMkLst>
        <pc:spChg chg="mod">
          <ac:chgData name="" userId="76386b9b250400ad" providerId="LiveId" clId="{416D1C2C-F332-4E9C-ADD6-EB09C6ECFACE}" dt="2022-05-14T10:34:08.841" v="48" actId="27636"/>
          <ac:spMkLst>
            <pc:docMk/>
            <pc:sldMk cId="0" sldId="366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9.158" v="49" actId="27636"/>
        <pc:sldMkLst>
          <pc:docMk/>
          <pc:sldMk cId="0" sldId="369"/>
        </pc:sldMkLst>
        <pc:spChg chg="mod">
          <ac:chgData name="" userId="76386b9b250400ad" providerId="LiveId" clId="{416D1C2C-F332-4E9C-ADD6-EB09C6ECFACE}" dt="2022-05-14T10:34:09.158" v="49" actId="27636"/>
          <ac:spMkLst>
            <pc:docMk/>
            <pc:sldMk cId="0" sldId="369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9.249" v="50" actId="27636"/>
        <pc:sldMkLst>
          <pc:docMk/>
          <pc:sldMk cId="0" sldId="371"/>
        </pc:sldMkLst>
        <pc:spChg chg="mod">
          <ac:chgData name="" userId="76386b9b250400ad" providerId="LiveId" clId="{416D1C2C-F332-4E9C-ADD6-EB09C6ECFACE}" dt="2022-05-14T10:34:09.249" v="50" actId="27636"/>
          <ac:spMkLst>
            <pc:docMk/>
            <pc:sldMk cId="0" sldId="371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09.757" v="51" actId="27636"/>
        <pc:sldMkLst>
          <pc:docMk/>
          <pc:sldMk cId="0" sldId="377"/>
        </pc:sldMkLst>
        <pc:spChg chg="mod">
          <ac:chgData name="" userId="76386b9b250400ad" providerId="LiveId" clId="{416D1C2C-F332-4E9C-ADD6-EB09C6ECFACE}" dt="2022-05-14T10:34:09.757" v="51" actId="27636"/>
          <ac:spMkLst>
            <pc:docMk/>
            <pc:sldMk cId="0" sldId="377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10.282" v="52" actId="27636"/>
        <pc:sldMkLst>
          <pc:docMk/>
          <pc:sldMk cId="0" sldId="378"/>
        </pc:sldMkLst>
        <pc:spChg chg="mod">
          <ac:chgData name="" userId="76386b9b250400ad" providerId="LiveId" clId="{416D1C2C-F332-4E9C-ADD6-EB09C6ECFACE}" dt="2022-05-14T10:34:10.282" v="52" actId="27636"/>
          <ac:spMkLst>
            <pc:docMk/>
            <pc:sldMk cId="0" sldId="378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11.201" v="53" actId="27636"/>
        <pc:sldMkLst>
          <pc:docMk/>
          <pc:sldMk cId="0" sldId="381"/>
        </pc:sldMkLst>
        <pc:spChg chg="mod">
          <ac:chgData name="" userId="76386b9b250400ad" providerId="LiveId" clId="{416D1C2C-F332-4E9C-ADD6-EB09C6ECFACE}" dt="2022-05-14T10:34:11.201" v="53" actId="27636"/>
          <ac:spMkLst>
            <pc:docMk/>
            <pc:sldMk cId="0" sldId="381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11.427" v="54" actId="27636"/>
        <pc:sldMkLst>
          <pc:docMk/>
          <pc:sldMk cId="0" sldId="382"/>
        </pc:sldMkLst>
        <pc:spChg chg="mod">
          <ac:chgData name="" userId="76386b9b250400ad" providerId="LiveId" clId="{416D1C2C-F332-4E9C-ADD6-EB09C6ECFACE}" dt="2022-05-14T10:34:11.427" v="54" actId="27636"/>
          <ac:spMkLst>
            <pc:docMk/>
            <pc:sldMk cId="0" sldId="382"/>
            <ac:spMk id="3" creationId="{00000000-0000-0000-0000-000000000000}"/>
          </ac:spMkLst>
        </pc:spChg>
      </pc:sldChg>
      <pc:sldChg chg="modSp">
        <pc:chgData name="" userId="76386b9b250400ad" providerId="LiveId" clId="{416D1C2C-F332-4E9C-ADD6-EB09C6ECFACE}" dt="2022-05-14T10:34:11.860" v="55" actId="27636"/>
        <pc:sldMkLst>
          <pc:docMk/>
          <pc:sldMk cId="0" sldId="383"/>
        </pc:sldMkLst>
        <pc:spChg chg="mod">
          <ac:chgData name="" userId="76386b9b250400ad" providerId="LiveId" clId="{416D1C2C-F332-4E9C-ADD6-EB09C6ECFACE}" dt="2022-05-14T10:34:11.860" v="55" actId="27636"/>
          <ac:spMkLst>
            <pc:docMk/>
            <pc:sldMk cId="0" sldId="383"/>
            <ac:spMk id="3" creationId="{00000000-0000-0000-0000-000000000000}"/>
          </ac:spMkLst>
        </pc:spChg>
      </pc:sldChg>
      <pc:sldChg chg="modSp add">
        <pc:chgData name="" userId="76386b9b250400ad" providerId="LiveId" clId="{416D1C2C-F332-4E9C-ADD6-EB09C6ECFACE}" dt="2022-05-14T10:34:06.094" v="42" actId="27636"/>
        <pc:sldMkLst>
          <pc:docMk/>
          <pc:sldMk cId="1840383089" sldId="399"/>
        </pc:sldMkLst>
        <pc:spChg chg="mod">
          <ac:chgData name="" userId="76386b9b250400ad" providerId="LiveId" clId="{416D1C2C-F332-4E9C-ADD6-EB09C6ECFACE}" dt="2022-05-14T10:34:06.094" v="42" actId="27636"/>
          <ac:spMkLst>
            <pc:docMk/>
            <pc:sldMk cId="1840383089" sldId="39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2022-05-14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2022-05-14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2022-05-14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2022-05-14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2022-05-14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2022-05-14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2022-05-14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2022-05-14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2022-05-14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2022-05-14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2022-05-14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2022-05-14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optimize1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无约束优化问题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答疑：周五晚上 17：00 ~ 19：00，线上预约线下答疑，（智信馆 611）。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什么是最优化？</a:t>
            </a:r>
          </a:p>
          <a:p>
            <a:pPr marL="1270000" lvl="0" indent="0">
              <a:buNone/>
            </a:pPr>
            <a:r>
              <a:rPr sz="2000"/>
              <a:t>用数学的方式，借助计算机工具</a:t>
            </a:r>
            <a:r>
              <a:rPr sz="2000" b="1"/>
              <a:t>描述和找出</a:t>
            </a:r>
            <a:r>
              <a:rPr sz="2000"/>
              <a:t>优化问题最优解的一门学科。</a:t>
            </a:r>
          </a:p>
          <a:p>
            <a:pPr marL="0" lvl="0" indent="0">
              <a:buNone/>
            </a:pPr>
            <a:r>
              <a:t>机器学习 = 模型 + 优化方法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简单例子：回归分析</a:t>
            </a:r>
          </a:p>
          <a:p>
            <a:pPr lvl="0"/>
            <a:r>
              <a:t>建立模型</a:t>
            </a:r>
          </a:p>
          <a:p>
            <a:pPr marL="342900" lvl="1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𝑦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𝑏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+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𝑏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𝑡</m:t>
                  </m:r>
                </m:oMath>
              </m:oMathPara>
            </a14:m>
            <a:endParaRPr/>
          </a:p>
          <a:p>
            <a:pPr lvl="0"/>
            <a:r>
              <a:t>优化问题</a:t>
            </a:r>
          </a:p>
          <a:p>
            <a:pPr marL="342900" lvl="1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limLow>
                    <m:limLow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limLowPr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min</m:t>
                      </m:r>
                    </m:e>
                    <m:lim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lim>
                  </m:limLow>
                  <m:d>
                    <m:dPr>
                      <m:begChr m:val="∥"/>
                      <m:endChr m:val="∥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e>
                  </m:d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最优化的应用：</a:t>
            </a:r>
          </a:p>
          <a:p>
            <a:pPr marL="342900" lvl="0" indent="-342900">
              <a:buAutoNum type="arabicPeriod"/>
            </a:pPr>
            <a:r>
              <a:t>智能制造</a:t>
            </a:r>
          </a:p>
          <a:p>
            <a:pPr marL="342900" lvl="0" indent="-342900">
              <a:buAutoNum type="arabicPeriod"/>
            </a:pPr>
            <a:r>
              <a:t>生产调度</a:t>
            </a:r>
          </a:p>
          <a:p>
            <a:pPr marL="342900" lvl="0" indent="-342900">
              <a:buAutoNum type="arabicPeriod"/>
            </a:pPr>
            <a:r>
              <a:t>机器人</a:t>
            </a:r>
          </a:p>
          <a:p>
            <a:pPr marL="342900" lvl="0" indent="-342900">
              <a:buAutoNum type="arabicPeriod"/>
            </a:pPr>
            <a:r>
              <a:t>运动规划（模型预测控制）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0 Introduction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0.1</a:t>
            </a:r>
          </a:p>
          <a:p>
            <a:pPr marL="0" lvl="0" indent="0">
              <a:buNone/>
            </a:pPr>
            <a:r>
              <a:t>什么是最优化？</a:t>
            </a:r>
          </a:p>
          <a:p>
            <a:pPr marL="0" lvl="0" indent="0">
              <a:buNone/>
            </a:pPr>
            <a:r>
              <a:t>三要素</a:t>
            </a:r>
          </a:p>
          <a:p>
            <a:pPr lvl="0"/>
            <a:r>
              <a:t>优化目标</a:t>
            </a:r>
          </a:p>
          <a:p>
            <a:pPr lvl="0"/>
            <a:r>
              <a:t>决策变量</a:t>
            </a:r>
          </a:p>
          <a:p>
            <a:pPr lvl="0"/>
            <a:r>
              <a:t>约束条件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研究的问题</a:t>
            </a:r>
          </a:p>
          <a:p>
            <a:pPr lvl="0"/>
            <a:r>
              <a:t>数学性质（线性？凸问题？存在？唯一？灵敏度？）</a:t>
            </a:r>
          </a:p>
          <a:p>
            <a:pPr lvl="0"/>
            <a:r>
              <a:t>构造寻求最优解的计算方法</a:t>
            </a:r>
          </a:p>
          <a:p>
            <a:pPr lvl="0"/>
            <a:r>
              <a:t>分析计算方法的：１.理论性质；２.实际计算表现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一些求解的方法</a:t>
            </a:r>
          </a:p>
          <a:p>
            <a:pPr lvl="0"/>
            <a:r>
              <a:t>图解法</a:t>
            </a:r>
          </a:p>
          <a:p>
            <a:pPr lvl="0"/>
            <a:r>
              <a:t>解析法</a:t>
            </a:r>
          </a:p>
          <a:p>
            <a:pPr lvl="0"/>
            <a:r>
              <a:t>计算机＋最优化理论：迭代法 - 搜索方向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𝜆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sub>
                </m:sSub>
              </m:oMath>
            </a14:m>
            <a:r>
              <a:t> - 搜索步长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e>
                  <m:sup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sup>
                </m:sSup>
              </m:oMath>
            </a14:m>
            <a:endParaRPr/>
          </a:p>
          <a:p>
            <a:pPr marL="342900" lvl="1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p>
                    <m:s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p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=</m:t>
                  </m:r>
                  <m:sSup>
                    <m:s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p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+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</m:sub>
                  </m:sSub>
                  <m:sSup>
                    <m:s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</m:e>
                    <m:sup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sup>
                  </m:sSup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难点：局部最优解和全局最优解不统一。</a:t>
            </a:r>
          </a:p>
          <a:p>
            <a:pPr marL="0" lvl="0" indent="0">
              <a:buNone/>
            </a:pPr>
            <a:r>
              <a:t>鞍点：在某一个维度上达到极值，但在另一个维度上不是。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0.2</a:t>
            </a:r>
          </a:p>
          <a:p>
            <a:pPr marL="0" lvl="0" indent="0">
              <a:buNone/>
            </a:pPr>
            <a:r>
              <a:t>课程的主要内容</a:t>
            </a:r>
          </a:p>
          <a:p>
            <a:pPr marL="342900" lvl="0" indent="-342900">
              <a:buAutoNum type="arabicPeriod"/>
            </a:pPr>
            <a:r>
              <a:t>数学知识</a:t>
            </a:r>
          </a:p>
          <a:p>
            <a:pPr marL="342900" lvl="0" indent="-342900">
              <a:buAutoNum type="arabicPeriod"/>
            </a:pPr>
            <a:r>
              <a:t>无约束优化</a:t>
            </a:r>
          </a:p>
          <a:p>
            <a:pPr marL="342900" lvl="0" indent="-342900">
              <a:buAutoNum type="arabicPeriod"/>
            </a:pPr>
            <a:r>
              <a:t>线性规划</a:t>
            </a:r>
          </a:p>
          <a:p>
            <a:pPr marL="342900" lvl="0" indent="-342900">
              <a:buAutoNum type="arabicPeriod"/>
            </a:pPr>
            <a:r>
              <a:t>非线性规划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5 Calculus Basic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5.1</a:t>
            </a:r>
          </a:p>
          <a:p>
            <a:pPr marL="0" lvl="0" indent="0">
              <a:buNone/>
            </a:pPr>
            <a:r>
              <a:t>序列、极限、函数连续性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定理一：收敛序列极限唯一（反证法）</a:t>
            </a:r>
          </a:p>
          <a:p>
            <a:pPr lvl="0"/>
            <a:r>
              <a:t>定理二：任意收敛序列极限有界</a:t>
            </a:r>
          </a:p>
          <a:p>
            <a:pPr lvl="0"/>
            <a:r>
              <a:t>定理三：单调有界序列必有极限（极限是上确界）</a:t>
            </a:r>
          </a:p>
          <a:p>
            <a:pPr lvl="0"/>
            <a:r>
              <a:t>定理四：子列和原序列极限相同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dirty="0" err="1"/>
                  <a:t>定义矩阵序列的极限</a:t>
                </a: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r>
                        <a:rPr>
                          <a:latin typeface="Cambria Math" panose="02040503050406030204" pitchFamily="18" charset="0"/>
                        </a:rPr>
                        <m:t>∥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∥=0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Here,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∥⋅∥: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→</m:t>
                    </m:r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dirty="0"/>
                  <a:t> is matrix norm. And a definition: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∥=</m:t>
                      </m:r>
                      <m:rad>
                        <m:ra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ℝ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mr>
                        <m:mr>
                          <m:e/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&lt;1 ⇔ </m:t>
                            </m:r>
                            <m:limLow>
                              <m:limLow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 ⇔ 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nary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mr>
                      </m:m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The continuousness of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To be continued...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4"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5.2</a:t>
            </a:r>
          </a:p>
          <a:p>
            <a:pPr marL="0" lvl="0" indent="0">
              <a:buNone/>
            </a:pPr>
            <a:r>
              <a:t>differentiable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 err="1"/>
              <a:t>微积分的基本理念：利用仿射函数对函数进行局部近似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7500" lnSpcReduction="20000"/>
              </a:bodyPr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limUpp>
                              <m:limUp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li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lim>
                            </m:limUpp>
                            <m:r>
                              <a:rPr>
                                <a:latin typeface="Cambria Math" panose="02040503050406030204" pitchFamily="18" charset="0"/>
                              </a:rPr>
                              <m:t>: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e>
                        </m:mr>
                        <m:mr>
                          <m:e/>
                          <m:e>
                            <m:limUpp>
                              <m:limUp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li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lim>
                            </m:limUpp>
                            <m:r>
                              <a:rPr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,</m:t>
                            </m:r>
                            <m:limUpp>
                              <m:limUp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li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lim>
                            </m:limUpp>
                            <m:r>
                              <a:rPr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e>
                        </m:mr>
                        <m:mr>
                          <m:e/>
                          <m:e>
                            <m:limUpp>
                              <m:limUp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li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lim>
                            </m:limUp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limUpp>
                                  <m:limUp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li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</m:lim>
                                </m:limUpp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limUpp>
                              <m:limUp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li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lim>
                            </m:limUp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limUpp>
                                  <m:limUp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li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</m:lim>
                                </m:limUpp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limUpp>
                              <m:limUp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li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lim>
                            </m:limUpp>
                          </m:e>
                        </m:mr>
                        <m:mr>
                          <m:e/>
                          <m:e>
                            <m:limLow>
                              <m:limLow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limUpp>
                                  <m:limUp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li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</m:lim>
                                </m:limUp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limUpp>
                                      <m:limUp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li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→</m:t>
                                        </m:r>
                                      </m:lim>
                                    </m:limUpp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limUpp>
                                      <m:limUp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li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→</m:t>
                                        </m:r>
                                      </m:lim>
                                    </m:limUpp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</m:lim>
                            </m:limLow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  <m:limUpp>
                                  <m:limUp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li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</m:lim>
                                </m:limUp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limUpp>
                                      <m:limUp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li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→</m:t>
                                        </m:r>
                                      </m:lim>
                                    </m:limUpp>
                                  </m:e>
                                </m:d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limUpp>
                                  <m:limUp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li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</m:lim>
                                </m:limUp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limUpp>
                                      <m:limUp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li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→</m:t>
                                        </m:r>
                                      </m:lim>
                                    </m:limUpp>
                                  </m:e>
                                </m:d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  <m:limUpp>
                                  <m:limUp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limUpp>
                                      <m:limUp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li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→</m:t>
                                        </m:r>
                                      </m:lim>
                                    </m:limUpp>
                                  </m:e>
                                  <m:li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</m:lim>
                                </m:limUp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limUpp>
                                      <m:limUp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limUpp>
                                          <m:limUpp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limUpp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lim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→</m:t>
                                            </m:r>
                                          </m:lim>
                                        </m:limUpp>
                                      </m:e>
                                      <m:li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→</m:t>
                                        </m:r>
                                      </m:lim>
                                    </m:limUpp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limUpp>
                              <m:limUp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li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lim>
                            </m:limUpp>
                          </m:e>
                        </m:mr>
                        <m:mr>
                          <m:e/>
                          <m:e>
                            <m:limLow>
                              <m:limLow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limUpp>
                                  <m:limUp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li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</m:lim>
                                </m:limUp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limUpp>
                                      <m:limUp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li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→</m:t>
                                        </m:r>
                                      </m:lim>
                                    </m:limUpp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limUpp>
                                      <m:limUp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li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→</m:t>
                                        </m:r>
                                      </m:lim>
                                    </m:limUpp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</m:lim>
                            </m:limLow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  <m:limUpp>
                                  <m:limUp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li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</m:lim>
                                </m:limUp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limUpp>
                                      <m:limUp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li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→</m:t>
                                        </m:r>
                                      </m:lim>
                                    </m:limUpp>
                                  </m:e>
                                </m:d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limUpp>
                                  <m:limUp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li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</m:lim>
                                </m:limUp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limUpp>
                                      <m:limUp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li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→</m:t>
                                        </m:r>
                                      </m:lim>
                                    </m:limUp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limUpp>
                                          <m:limUpp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limUpp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lim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→</m:t>
                                            </m:r>
                                          </m:lim>
                                        </m:limUpp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limUpp>
                                  <m:limUp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li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</m:lim>
                                </m:limUp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limUpp>
                                          <m:limUpp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limUpp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lim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→</m:t>
                                            </m:r>
                                          </m:lim>
                                        </m:limUpp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  <m:limUpp>
                                  <m:limUp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li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</m:lim>
                                </m:limUp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limUpp>
                                      <m:limUp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li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→</m:t>
                                        </m:r>
                                      </m:lim>
                                    </m:limUpp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limUpp>
                              <m:limUp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li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lim>
                            </m:limUpp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𝐷</m:t>
                            </m:r>
                            <m:limUpp>
                              <m:limUp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li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lim>
                            </m:limUp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limUpp>
                                      <m:limUp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li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→</m:t>
                                        </m:r>
                                      </m:lim>
                                    </m:limUpp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limUpp>
                              <m:limUp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li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lim>
                            </m:limUpp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limUpp>
                                            <m:limUpp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limUpp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lim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→</m:t>
                                              </m:r>
                                            </m:lim>
                                          </m:limUpp>
                                        </m:num>
                                        <m:den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sSub>
                                            <m:sSub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limUpp>
                                            <m:limUpp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limUpp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e>
                                            <m:lim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→</m:t>
                                              </m:r>
                                            </m:lim>
                                          </m:limUpp>
                                        </m:e>
                                      </m:d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,⋯,</m:t>
                                      </m:r>
                                      <m:f>
                                        <m:f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limUpp>
                                            <m:limUpp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limUpp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lim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→</m:t>
                                              </m:r>
                                            </m:lim>
                                          </m:limUpp>
                                        </m:num>
                                        <m:den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sSub>
                                            <m:sSub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limUpp>
                                            <m:limUpp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limUpp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e>
                                            <m:lim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→</m:t>
                                              </m:r>
                                            </m:lim>
                                          </m:limUpp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sSub>
                                            <m:sSub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sSub>
                                            <m:sSub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sSub>
                                            <m:sSub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sSub>
                                            <m:sSub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/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sSub>
                                            <m:sSub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sSub>
                                            <m:sSub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sSub>
                                            <m:sSub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sSub>
                                            <m:sSub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0383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: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ℝ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a:rPr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limUpp>
                                  <m:limUp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li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</m:lim>
                                </m:limUpp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𝐷𝑓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limUpp>
                                      <m:limUp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li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→</m:t>
                                        </m:r>
                                      </m:lim>
                                    </m:limUpp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num>
                                        <m:den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sSub>
                                            <m:sSub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num>
                                        <m:den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sSub>
                                            <m:sSub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/>
                          <m:e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limUpp>
                                  <m:limUp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li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</m:lim>
                                </m:limUpp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m:rPr>
                                <m:sty m:val="p"/>
                              </m:rPr>
                              <a:rPr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limUpp>
                                  <m:limUp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li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</m:lim>
                                </m:limUpp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</m:num>
                                        <m:den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sSub>
                                            <m:sSub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∂</m:t>
                                              </m:r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num>
                                            <m:den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∂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</m:e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</m:num>
                                        <m:den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sSub>
                                            <m:sSub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∂</m:t>
                                              </m:r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num>
                                            <m:den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∂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/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</m:num>
                                        <m:den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sSub>
                                            <m:sSub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∂</m:t>
                                              </m:r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num>
                                            <m:den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∂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</m:e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</m:num>
                                        <m:den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sSub>
                                            <m:sSub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∂</m:t>
                                              </m:r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num>
                                            <m:den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∂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5.3</a:t>
            </a:r>
          </a:p>
          <a:p>
            <a:pPr marL="0" lvl="0" indent="0">
              <a:buNone/>
            </a:pPr>
            <a:r>
              <a:t>derivative matrix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5.4</a:t>
            </a:r>
          </a:p>
          <a:p>
            <a:pPr marL="0" lvl="0" indent="0">
              <a:buNone/>
            </a:pPr>
            <a:r>
              <a:t>principle of derivative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5.5</a:t>
            </a:r>
          </a:p>
          <a:p>
            <a:pPr marL="0" lvl="0" indent="0">
              <a:buNone/>
            </a:pPr>
            <a:r>
              <a:t>水平集和参数化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𝑓</m:t>
                    </m:r>
                    <m:r>
                      <a:rPr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→</m:t>
                    </m:r>
                    <m:r>
                      <a:rPr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t> 的水平集为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{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: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梯度向量和水平集曲线在这点的切线正交。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d>
                          </m:e>
                        </m:mr>
                        <m:mr>
                          <m:e/>
                          <m:e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𝐷𝑓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∂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∂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mr>
                        <m:mr>
                          <m:e/>
                          <m:e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∂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∂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4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5.6</a:t>
            </a:r>
          </a:p>
          <a:p>
            <a:pPr marL="0" lvl="0" indent="0">
              <a:buNone/>
            </a:pPr>
            <a:r>
              <a:t>Taylor series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6 集合约束和无约束优化问题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6.1</a:t>
            </a:r>
          </a:p>
          <a:p>
            <a:pPr marL="0" lvl="0" indent="0">
              <a:buNone/>
            </a:pPr>
            <a:r>
              <a:t>intoduction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m:rPr>
                                <m:nor/>
                              </m:rPr>
                              <a:rPr/>
                              <m:t>minimize</m:t>
                            </m:r>
                            <m:r>
                              <m:rPr>
                                <m:nor/>
                              </m:rPr>
                              <a:rPr/>
                              <m:t> 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m:rPr>
                                <m:nor/>
                              </m:rPr>
                              <a:rPr/>
                              <m:t>subject</m:t>
                            </m:r>
                            <m:r>
                              <m:rPr>
                                <m:nor/>
                              </m:rPr>
                              <a:rPr/>
                              <m:t> </m:t>
                            </m:r>
                            <m:r>
                              <m:rPr>
                                <m:nor/>
                              </m:rPr>
                              <a:rPr/>
                              <m:t>to</m:t>
                            </m:r>
                            <m:r>
                              <m:rPr>
                                <m:nor/>
                              </m:rPr>
                              <a:rPr/>
                              <m:t> 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𝛺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从可行集合中找到使得目标函数最小的点。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: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ℝ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ℝ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/>
                              <m:t>domain</m:t>
                            </m:r>
                            <m:r>
                              <m:rPr>
                                <m:nor/>
                              </m:rPr>
                              <a:rPr/>
                              <m:t>: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𝛺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⊂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ℝ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∃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𝜖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&gt;0,∀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:0&lt;∥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∥&lt;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𝜖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nor/>
                              </m:rPr>
                              <a:rPr/>
                              <m:t> </m:t>
                            </m:r>
                            <m:r>
                              <m:rPr>
                                <m:nor/>
                              </m:rPr>
                              <a:rPr/>
                              <m:t>local</m:t>
                            </m:r>
                            <m:r>
                              <m:rPr>
                                <m:nor/>
                              </m:rPr>
                              <a:rPr/>
                              <m:t> </m:t>
                            </m:r>
                            <m:r>
                              <m:rPr>
                                <m:nor/>
                              </m:rPr>
                              <a:rPr/>
                              <m:t>minimum</m:t>
                            </m:r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∀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𝛺</m:t>
                            </m:r>
                            <m:r>
                              <m:rPr>
                                <m:nor/>
                              </m:rPr>
                              <a:rPr/>
                              <m:t>\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{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},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nor/>
                              </m:rPr>
                              <a:rPr/>
                              <m:t> </m:t>
                            </m:r>
                            <m:r>
                              <m:rPr>
                                <m:nor/>
                              </m:rPr>
                              <a:rPr/>
                              <m:t>global</m:t>
                            </m:r>
                            <m:r>
                              <m:rPr>
                                <m:nor/>
                              </m:rPr>
                              <a:rPr/>
                              <m:t> </m:t>
                            </m:r>
                            <m:r>
                              <m:rPr>
                                <m:nor/>
                              </m:rPr>
                              <a:rPr/>
                              <m:t>minimum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lvl="0"/>
                <a:r>
                  <a:t>局部极小点</a:t>
                </a:r>
              </a:p>
              <a:p>
                <a:pPr lvl="0"/>
                <a:r>
                  <a:t>全局最小点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𝑎𝑟𝑔𝑚𝑖𝑛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6.2</a:t>
            </a:r>
          </a:p>
          <a:p>
            <a:pPr marL="0" lvl="0" indent="0">
              <a:buNone/>
            </a:pPr>
            <a:r>
              <a:t>局部极小点的条件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可行方向：为了研究非内点为极小点的情况。</a:t>
            </a:r>
          </a:p>
          <a:p>
            <a:pPr marL="0" lvl="0" indent="0">
              <a:buNone/>
            </a:pPr>
            <a:r>
              <a:t>所有的可行方向构成了可行基在某一个点附近的逼近。</a:t>
            </a:r>
          </a:p>
          <a:p>
            <a:pPr marL="0" lvl="0" indent="0">
              <a:buNone/>
            </a:pP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𝐝</m:t>
                </m:r>
              </m:oMath>
            </a14:m>
            <a:r>
              <a:t> is feasible direction of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𝐱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t>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∃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&gt;0,∀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∈[0,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],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𝐝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𝛺</m:t>
                        </m:r>
                      </m:e>
                    </m:mr>
                  </m:m>
                </m:oMath>
              </m:oMathPara>
            </a14:m>
            <a:endParaRPr/>
          </a:p>
          <a:p>
            <a:pPr marL="0" lvl="0" indent="0">
              <a:buNone/>
            </a:pPr>
            <a:r>
              <a:t>定义很像极限。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t>方向导数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计算简化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d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∂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∂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den>
                            </m:f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num>
                                      <m:den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den>
                                    </m:f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𝐷𝑓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4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t>定理一：局部极小点的一阶必要条件</a:t>
                </a:r>
              </a:p>
              <a:p>
                <a:pPr marL="0" lvl="0" indent="0">
                  <a:buNone/>
                </a:pPr>
                <a:r>
                  <a:t>这是</a:t>
                </a:r>
                <a:r>
                  <a:rPr b="1"/>
                  <a:t>排除法</a:t>
                </a:r>
                <a:r>
                  <a:t>。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∀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𝐝</m:t>
                            </m:r>
                            <m:r>
                              <m:rPr>
                                <m:nor/>
                              </m:rPr>
                              <a:rPr/>
                              <m:t> </m:t>
                            </m:r>
                            <m:r>
                              <m:rPr>
                                <m:nor/>
                              </m:rPr>
                              <a:rPr/>
                              <m:t>is</m:t>
                            </m:r>
                            <m:r>
                              <m:rPr>
                                <m:nor/>
                              </m:rPr>
                              <a:rPr/>
                              <m:t> </m:t>
                            </m:r>
                            <m:r>
                              <m:rPr>
                                <m:nor/>
                              </m:rPr>
                              <a:rPr/>
                              <m:t>feasible</m:t>
                            </m:r>
                            <m:r>
                              <m:rPr>
                                <m:nor/>
                              </m:rPr>
                              <a:rPr/>
                              <m:t>, 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∂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∂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den>
                            </m:f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Proof: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𝜑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𝜑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𝑜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如果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t> 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t> 内部，则：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2873" b="-16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t>定理二：局部极小点的二阶必要条件</a:t>
                </a:r>
              </a:p>
              <a:p>
                <a:pPr marL="0" lvl="0" indent="0">
                  <a:buNone/>
                </a:pPr>
                <a:r>
                  <a:t>前提：满足一阶必要条件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𝑓</m:t>
                    </m:r>
                    <m:r>
                      <a:rPr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黑塞矩阵</a:t>
                </a:r>
                <a:r>
                  <a:rPr b="1"/>
                  <a:t>半正定</a:t>
                </a:r>
                <a:r>
                  <a:t>。</a:t>
                </a:r>
              </a:p>
              <a:p>
                <a:pPr marL="0" lvl="0" indent="0">
                  <a:buNone/>
                </a:pPr>
                <a:r>
                  <a:t>Proof: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𝐷𝑓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𝐝</m:t>
                            </m:r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</m:d>
                          </m:e>
                        </m:mr>
                        <m:mr>
                          <m:e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″</m:t>
                                </m:r>
                              </m:sup>
                            </m:s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den>
                            </m:f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</m:d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𝐅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𝐝</m:t>
                            </m:r>
                          </m:e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𝜑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𝜑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″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𝑜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4"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当然，满足两个条件也不一定就是极小值（必要性）。例如：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𝑥</m:t>
                </m:r>
                <m:r>
                  <a:rPr>
                    <a:latin typeface="Cambria Math" panose="02040503050406030204" pitchFamily="18" charset="0"/>
                  </a:rPr>
                  <m:t>=0,</m:t>
                </m:r>
                <m:r>
                  <a:rPr>
                    <a:latin typeface="Cambria Math" panose="02040503050406030204" pitchFamily="18" charset="0"/>
                  </a:rPr>
                  <m:t>𝑓</m:t>
                </m:r>
                <m:d>
                  <m:dPr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</m:d>
                <m:r>
                  <a:rPr>
                    <a:latin typeface="Cambria Math" panose="02040503050406030204" pitchFamily="18" charset="0"/>
                  </a:rPr>
                  <m:t>=</m:t>
                </m:r>
                <m:sSup>
                  <m:sSupPr>
                    <m:ctrlPr>
                      <a:rPr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3</m:t>
                    </m:r>
                  </m:sup>
                </m:sSup>
              </m:oMath>
            </a14:m>
            <a:endParaRPr/>
          </a:p>
          <a:p>
            <a:pPr marL="0" lvl="0" indent="0">
              <a:buNone/>
            </a:pPr>
            <a:r>
              <a:t>但是只要有一个必要条件不满足，就一定不是极小值点。例如：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𝑥</m:t>
                </m:r>
                <m:r>
                  <a:rPr>
                    <a:latin typeface="Cambria Math" panose="02040503050406030204" pitchFamily="18" charset="0"/>
                  </a:rPr>
                  <m:t>=</m:t>
                </m:r>
                <m:d>
                  <m:dPr>
                    <m:begChr m:val="["/>
                    <m:endChr m:val="]"/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</m:m>
                  </m:e>
                </m:d>
                <m:r>
                  <a:rPr>
                    <a:latin typeface="Cambria Math" panose="02040503050406030204" pitchFamily="18" charset="0"/>
                  </a:rPr>
                  <m:t>,</m:t>
                </m:r>
                <m:r>
                  <a:rPr>
                    <a:latin typeface="Cambria Math" panose="02040503050406030204" pitchFamily="18" charset="0"/>
                  </a:rPr>
                  <m:t>𝑓</m:t>
                </m:r>
                <m:d>
                  <m:dPr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</m:d>
                <m:r>
                  <a:rPr>
                    <a:latin typeface="Cambria Math" panose="02040503050406030204" pitchFamily="18" charset="0"/>
                  </a:rPr>
                  <m:t>=</m:t>
                </m:r>
                <m:sSubSup>
                  <m:sSubSupPr>
                    <m:ctrlPr>
                      <a:rPr i="1"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sub>
                  <m:sup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  <m:r>
                  <a:rPr>
                    <a:latin typeface="Cambria Math" panose="02040503050406030204" pitchFamily="18" charset="0"/>
                  </a:rPr>
                  <m:t>−</m:t>
                </m:r>
                <m:sSubSup>
                  <m:sSubSupPr>
                    <m:ctrlPr>
                      <a:rPr i="1"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</m:sub>
                  <m:sup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</m:oMath>
            </a14:m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定理三：局部极小点的二阶充分条件</a:t>
            </a:r>
          </a:p>
          <a:p>
            <a:pPr marL="0" lvl="0" indent="0">
              <a:buNone/>
            </a:pPr>
            <a:r>
              <a:t>前提：内点，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𝑓</m:t>
                </m:r>
                <m:r>
                  <a:rPr>
                    <a:latin typeface="Cambria Math" panose="02040503050406030204" pitchFamily="18" charset="0"/>
                  </a:rPr>
                  <m:t>∈</m:t>
                </m:r>
                <m:sSup>
                  <m:sSupPr>
                    <m:ctrlPr>
                      <a:rPr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/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mr>
                    <m:mr>
                      <m:e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𝐅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mr>
                  </m:m>
                </m:oMath>
              </m:oMathPara>
            </a14:m>
            <a:endParaRPr/>
          </a:p>
          <a:p>
            <a:pPr marL="0" lvl="0" indent="0">
              <a:buNone/>
            </a:pPr>
            <a:r>
              <a:t>第二条条件指的是矩阵</a:t>
            </a:r>
            <a:r>
              <a:rPr b="1"/>
              <a:t>正定</a:t>
            </a:r>
            <a:r>
              <a:t>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7 一维搜索算法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𝜑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>
                          <a:latin typeface="Cambria Math" panose="02040503050406030204" pitchFamily="18" charset="0"/>
                        </a:rPr>
                        <m:t>𝛼</m:t>
                      </m:r>
                    </m:e>
                  </m:d>
                  <m:r>
                    <a:rPr>
                      <a:latin typeface="Cambria Math" panose="02040503050406030204" pitchFamily="18" charset="0"/>
                    </a:rPr>
                    <m:t>=</m:t>
                  </m:r>
                  <m:r>
                    <a:rPr>
                      <a:latin typeface="Cambria Math" panose="02040503050406030204" pitchFamily="18" charset="0"/>
                    </a:rPr>
                    <m:t>𝑓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e>
                  </m:d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7.1</a:t>
            </a:r>
          </a:p>
          <a:p>
            <a:pPr marL="0" lvl="0" indent="0">
              <a:buNone/>
            </a:pPr>
            <a:r>
              <a:t>Introduction</a:t>
            </a:r>
          </a:p>
          <a:p>
            <a:pPr marL="0" lvl="0" indent="0">
              <a:buNone/>
            </a:pPr>
            <a:r>
              <a:t>求解单变量单值函数在闭区间的最小值。前提是在闭区间上单峰。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7.2</a:t>
            </a:r>
          </a:p>
          <a:p>
            <a:pPr marL="0" lvl="0" indent="0">
              <a:buNone/>
            </a:pPr>
            <a:r>
              <a:t>黄金分割法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只知道给定输入的函数值，不知道导数。</a:t>
            </a:r>
          </a:p>
          <a:p>
            <a:pPr marL="0" lvl="0" indent="0">
              <a:buNone/>
            </a:pPr>
            <a:r>
              <a:t>方法：对称压缩。</a:t>
            </a:r>
          </a:p>
          <a:p>
            <a:pPr marL="0" lvl="0" indent="0">
              <a:buNone/>
            </a:pPr>
            <a:r>
              <a:t>计算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𝑓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e>
                  </m:d>
                  <m:r>
                    <a:rPr>
                      <a:latin typeface="Cambria Math" panose="02040503050406030204" pitchFamily="18" charset="0"/>
                    </a:rPr>
                    <m:t>,</m:t>
                  </m:r>
                  <m:r>
                    <a:rPr>
                      <a:latin typeface="Cambria Math" panose="02040503050406030204" pitchFamily="18" charset="0"/>
                    </a:rPr>
                    <m:t>𝑓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e>
                  </m:d>
                </m:oMath>
              </m:oMathPara>
            </a14:m>
            <a:endParaRPr/>
          </a:p>
          <a:p>
            <a:pPr marL="0" lvl="0" indent="0">
              <a:buNone/>
            </a:pPr>
            <a:r>
              <a:t>从而压缩掉一个区间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[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𝑎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0,</m:t>
                      </m:r>
                    </m:sub>
                  </m:sSub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𝑎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]</m:t>
                  </m:r>
                  <m:r>
                    <m:rPr>
                      <m:nor/>
                    </m:rPr>
                    <a:rPr/>
                    <m:t> </m:t>
                  </m:r>
                  <m:r>
                    <m:rPr>
                      <m:nor/>
                    </m:rPr>
                    <a:rPr/>
                    <m:t>or</m:t>
                  </m:r>
                  <m:r>
                    <m:rPr>
                      <m:nor/>
                    </m:rPr>
                    <a:rPr/>
                    <m:t> </m:t>
                  </m:r>
                  <m:r>
                    <a:rPr>
                      <a:latin typeface="Cambria Math" panose="02040503050406030204" pitchFamily="18" charset="0"/>
                    </a:rPr>
                    <m:t>[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𝑏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,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𝑏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]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1)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⇒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∈[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mr>
                    <m:mr>
                      <m:e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1)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⇒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∈[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mr>
                  </m:m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如何选择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,</m:t>
                </m:r>
                <m:sSub>
                  <m:sSubPr>
                    <m:ctrlPr>
                      <a:rPr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a14:m>
            <a:r>
              <a:t>？</a:t>
            </a:r>
          </a:p>
          <a:p>
            <a:pPr marL="0" lvl="0" indent="0">
              <a:buNone/>
            </a:pPr>
            <a:r>
              <a:rPr b="1"/>
              <a:t>固定的压缩比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mr>
                    <m:mr>
                      <m:e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mr>
                  </m:m>
                </m:oMath>
              </m:oMathPara>
            </a14:m>
            <a:endParaRPr b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/>
                      <m:e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𝜌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𝜌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mr>
                    <m:mr>
                      <m:e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3−</m:t>
                            </m:r>
                            <m:rad>
                              <m:ra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nor/>
                          </m:rPr>
                          <a:rPr/>
                          <m:t> </m:t>
                        </m:r>
                        <m:r>
                          <m:rPr>
                            <m:nor/>
                          </m:rPr>
                          <a:rPr/>
                          <m:t>or</m:t>
                        </m:r>
                        <m:r>
                          <m:rPr>
                            <m:nor/>
                          </m:rPr>
                          <a:rPr/>
                          <m:t> 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3+</m:t>
                            </m:r>
                            <m:rad>
                              <m:ra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mr>
                    <m:mr>
                      <m:e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mr>
                  </m:m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从区间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[</m:t>
                </m:r>
                <m:sSub>
                  <m:sSubPr>
                    <m:ctrlPr>
                      <a:rPr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,</m:t>
                </m:r>
                <m:sSub>
                  <m:sSubPr>
                    <m:ctrlPr>
                      <a:rPr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]</m:t>
                </m:r>
              </m:oMath>
            </a14:m>
            <a:r>
              <a:t> 压缩到精度为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𝜀</m:t>
                </m:r>
              </m:oMath>
            </a14:m>
            <a:r>
              <a:t>.</a:t>
            </a:r>
          </a:p>
          <a:p>
            <a:pPr marL="0" lvl="0" indent="0">
              <a:buNone/>
            </a:pPr>
            <a:r>
              <a:t>压缩次数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𝑁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ln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</m:num>
                    <m:den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den>
                  </m:f>
                </m:oMath>
              </m:oMathPara>
            </a14:m>
            <a:endParaRPr/>
          </a:p>
          <a:p>
            <a:pPr marL="0" lvl="0" indent="0">
              <a:buNone/>
            </a:pPr>
            <a:r>
              <a:t>向上取整。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lvl="0" indent="0">
              <a:buNone/>
            </a:pPr>
            <a:r>
              <a:rPr>
                <a:latin typeface="Courier"/>
              </a:rPr>
              <a:t>def GoldenSectionSearch(func, start, end, precision):
    rho = (3-sqrt(5))/2
    a,b = [start],[end]
    ak = start + rho * (end - start)
    bk = end - rho * (end - start)
    fak = func(ak)
    fbk = func(bk)
    while (end - start &gt; precision):
        if (fak &lt;= fbk):
            end = bk
            bk,fbk = ak,fak
            ak = start + rho * (end - start)
            fak = func(ak)
        else:
            start = ak
            ak, fak = bk, fbk
            bk = end - rho * (end - start)
            fbk = func(bk)
        a.append(start)
        b.append(end)
    return (a,b)
复制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7.3</a:t>
            </a:r>
          </a:p>
          <a:p>
            <a:pPr marL="0" lvl="0" indent="0">
              <a:buNone/>
            </a:pPr>
            <a:r>
              <a:t>Fibbonaci Array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如果压缩比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𝜌</m:t>
                </m:r>
              </m:oMath>
            </a14:m>
            <a:r>
              <a:t> 可以调整？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{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𝜌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}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仍然保持对称压缩的方法。</a:t>
            </a:r>
          </a:p>
          <a:p>
            <a:pPr marL="0" lvl="0" indent="0">
              <a:buNone/>
            </a:pPr>
            <a:r>
              <a:t>每次迭代只计算一次函数值。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=1−2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1−2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=1−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</m:mr>
                        <m:mr>
                          <m:e/>
                          <m:e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⋯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/>
                              <m:t>minimize</m:t>
                            </m:r>
                            <m:r>
                              <m:rPr>
                                <m:nor/>
                              </m:rPr>
                              <a:rPr/>
                              <m:t> </m:t>
                            </m:r>
                          </m:e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⋯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/>
                              <m:t>subject</m:t>
                            </m:r>
                            <m:r>
                              <m:rPr>
                                <m:nor/>
                              </m:rPr>
                              <a:rPr/>
                              <m:t> </m:t>
                            </m:r>
                            <m:r>
                              <m:rPr>
                                <m:nor/>
                              </m:rPr>
                              <a:rPr/>
                              <m:t>to</m:t>
                            </m:r>
                            <m:r>
                              <m:rPr>
                                <m:nor/>
                              </m:rPr>
                              <a:rPr/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=1−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0≤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≤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=1,⋯,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Fibbonaci Array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sub>
                            </m:sSub>
                          </m:den>
                        </m:f>
                      </m:e>
                    </m:mr>
                    <m:mr>
                      <m:e/>
                      <m:e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⋯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den>
                        </m:f>
                      </m:e>
                    </m:mr>
                  </m:m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最后一次压缩比为 1/2，实际操作中应该修正为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f>
                    <m:f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r>
                    <a:rPr>
                      <a:latin typeface="Cambria Math" panose="02040503050406030204" pitchFamily="18" charset="0"/>
                    </a:rPr>
                    <m:t>−</m:t>
                  </m:r>
                  <m:r>
                    <a:rPr>
                      <a:latin typeface="Cambria Math" panose="02040503050406030204" pitchFamily="18" charset="0"/>
                    </a:rPr>
                    <m:t>𝜀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lvl="0" indent="0">
              <a:buNone/>
            </a:pPr>
            <a:r>
              <a:rPr>
                <a:latin typeface="Courier"/>
              </a:rPr>
              <a:t>def FibonacciSearch(func, start, end, precision, epsilon):
    x,y = 1,1
    a,b = [start],[end]
    while (precision*y/(1+epsilon)&lt;(end-start)):
        temp = x
        x = y
        y = temp+y
    ak = (x*start+(y-x)*end)/y
    bk = (x*end+(y-x)*start)/y
    fak = func(ak)
    fbk = func(bk)
    while (y&gt;2):
        temp = x
        x = y - x
        y = temp
        if (fak &lt;= fbk):
            end = bk
            bk,fbk = ak,fak
            ak = (x*start+(y-x)*end)/y
            fak = func(ak)
        else:
            start = ak
            ak, fak = bk, fbk
            bk = (x*end+(y-x)*start)/y
            fbk = func(bk)
        a.append(start)
        b.append(end)
    if (y==2):
        ak = (start+end)/2 - epsilon*(end-start)
        bk = (start+end)/2 + epsilon*(end-start)
        if (func(ak) &lt;= func(bk)):
            a.append(start)
            b.append(bk)
        else:
            a.append(ak)
            b.append(end)
    return (a,b)
复制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7.4</a:t>
            </a:r>
          </a:p>
          <a:p>
            <a:pPr marL="0" lvl="0" indent="0">
              <a:buNone/>
            </a:pPr>
            <a:r>
              <a:t>二分法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前提：可以计算一阶导数。</a:t>
            </a:r>
          </a:p>
          <a:p>
            <a:pPr marL="0" lvl="0" indent="0">
              <a:buNone/>
            </a:pPr>
            <a:r>
              <a:t>计算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𝑓</m:t>
                </m:r>
                <m:sSup>
                  <m:sSupPr>
                    <m:ctrlPr>
                      <a:rPr i="1">
                        <a:latin typeface="Cambria Math" panose="02040503050406030204" pitchFamily="18" charset="0"/>
                      </a:rPr>
                    </m:ctrlPr>
                  </m:sSupPr>
                  <m:e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′</m:t>
                    </m:r>
                  </m:sup>
                </m:sSup>
              </m:oMath>
            </a14:m>
            <a:endParaRPr/>
          </a:p>
          <a:p>
            <a:pPr marL="0" lvl="0" indent="0">
              <a:buNone/>
            </a:pPr>
            <a:r>
              <a:t>如果导数为正，舍弃右侧；如果导数为负，舍弃左侧。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𝜌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7.5</a:t>
            </a:r>
          </a:p>
          <a:p>
            <a:pPr marL="0" lvl="0" indent="0">
              <a:buNone/>
            </a:pPr>
            <a:r>
              <a:t>Newton Iteration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t>前提：可以计算二阶导数。</a:t>
                </a:r>
              </a:p>
              <a:p>
                <a:pPr marL="0" lvl="0" indent="0">
                  <a:buNone/>
                </a:pPr>
                <a:r>
                  <a:t>Taylor Theorem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″</m:t>
                                </m:r>
                              </m:sup>
                            </m:s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mr>
                        <m:mr>
                          <m:e/>
                          <m:e>
                            <m:r>
                              <m:rPr>
                                <m:nor/>
                              </m:rPr>
                              <a:rPr/>
                              <m:t>minimize</m:t>
                            </m:r>
                            <m:r>
                              <m:rPr>
                                <m:nor/>
                              </m:rPr>
                              <a:rPr/>
                              <m:t> 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m:rPr>
                                <m:nor/>
                              </m:rPr>
                              <a:rPr/>
                              <m:t>subject</m:t>
                            </m:r>
                            <m:r>
                              <m:rPr>
                                <m:nor/>
                              </m:rPr>
                              <a:rPr/>
                              <m:t> </m:t>
                            </m:r>
                            <m:r>
                              <m:rPr>
                                <m:nor/>
                              </m:rPr>
                              <a:rPr/>
                              <m:t>to</m:t>
                            </m:r>
                            <m:r>
                              <m:rPr>
                                <m:nor/>
                              </m:rPr>
                              <a:rPr/>
                              <m:t> 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″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用牛顿切线法寻找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t> 的解。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436" b="-17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Iteration precision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d>
                    <m:dPr>
                      <m:begChr m:val="|"/>
                      <m:endChr m:val="|"/>
                      <m:ctrlPr>
                        <a:rPr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e>
                  </m:d>
                  <m:r>
                    <a:rPr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begChr m:val="|"/>
                      <m:endChr m:val="|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″</m:t>
                              </m:r>
                            </m:sup>
                          </m:sSup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e>
                  </m:d>
                  <m:r>
                    <a:rPr>
                      <a:latin typeface="Cambria Math" panose="02040503050406030204" pitchFamily="18" charset="0"/>
                    </a:rPr>
                    <m:t>≤</m:t>
                  </m:r>
                  <m:r>
                    <a:rPr>
                      <a:latin typeface="Cambria Math" panose="02040503050406030204" pitchFamily="18" charset="0"/>
                    </a:rPr>
                    <m:t>𝜀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If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𝑓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″</m:t>
                    </m:r>
                  </m:sup>
                </m:sSup>
                <m:d>
                  <m:dPr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e>
                </m:d>
                <m:r>
                  <a:rPr>
                    <a:latin typeface="Cambria Math" panose="02040503050406030204" pitchFamily="18" charset="0"/>
                  </a:rPr>
                  <m:t>≤0</m:t>
                </m:r>
              </m:oMath>
            </a14:m>
            <a:r>
              <a:t>: 得到的是极大值，之后在凸优化，凹优化问题中会有详细讨论。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7.6</a:t>
            </a:r>
          </a:p>
          <a:p>
            <a:pPr marL="0" lvl="0" indent="0">
              <a:buNone/>
            </a:pPr>
            <a:r>
              <a:t>割线法——近似二阶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割线法运用了两步的历史信息。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/>
                      <m:e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den>
                        </m:f>
                      </m:e>
                    </m:mr>
                    <m:mr>
                      <m:e/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mr>
                  </m:m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indent="0">
              <a:buNone/>
            </a:pPr>
            <a:r>
              <a:rPr>
                <a:latin typeface="Courier"/>
              </a:rPr>
              <a:t>def SecantMethod(f, x1, x2, precision):
    def GetNullPoint(f, x1, x2):
        return (f(x2)*x1-f(x1)*x2)/(f(x2)-f(x1))
    PointLog = [x1, x2]
    while (abs(x2-x1)&gt;precision*abs(x1)):
        temp = x2
        x2 = GetNullPoint(f, x1, x2)
        x1 = temp
        PointLog.append(x2)
    return PointLog
复制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7.7</a:t>
            </a:r>
          </a:p>
          <a:p>
            <a:pPr marL="0" lvl="0" indent="0">
              <a:buNone/>
            </a:pPr>
            <a:r>
              <a:t>划界法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如何确定初始单峰区间？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∀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,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,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</m:oMath>
              </m:oMathPara>
            </a14:m>
            <a:endParaRPr/>
          </a:p>
          <a:p>
            <a:pPr marL="0" lvl="0" indent="0">
              <a:buNone/>
            </a:pP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7.8</a:t>
            </a:r>
          </a:p>
          <a:p>
            <a:pPr marL="0" lvl="0" indent="0">
              <a:buNone/>
            </a:pPr>
            <a:r>
              <a:t>多维搜索优化问题中的一维搜索。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/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𝐝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mr>
                    <m:mr>
                      <m:e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𝛷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mr>
                  </m:m>
                </m:oMath>
              </m:oMathPara>
            </a14:m>
            <a:endParaRPr/>
          </a:p>
          <a:p>
            <a:pPr marL="0" lvl="0" indent="0">
              <a:buNone/>
            </a:pPr>
            <a:r>
              <a:t>对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𝛷</m:t>
                </m:r>
                <m:d>
                  <m:dPr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>
                        <a:latin typeface="Cambria Math" panose="02040503050406030204" pitchFamily="18" charset="0"/>
                      </a:rPr>
                      <m:t>𝛼</m:t>
                    </m:r>
                  </m:e>
                </m:d>
              </m:oMath>
            </a14:m>
            <a:r>
              <a:t> 进行一维搜索。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p>
                    <m:s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𝛷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>
                          <a:latin typeface="Cambria Math" panose="02040503050406030204" pitchFamily="18" charset="0"/>
                        </a:rPr>
                        <m:t>𝛼</m:t>
                      </m:r>
                    </m:e>
                  </m:d>
                  <m:r>
                    <a:rPr>
                      <a:latin typeface="Cambria Math" panose="02040503050406030204" pitchFamily="18" charset="0"/>
                    </a:rPr>
                    <m:t>=</m:t>
                  </m:r>
                  <m:sSubSup>
                    <m:sSub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>
                          <a:latin typeface="Cambria Math" panose="02040503050406030204" pitchFamily="18" charset="0"/>
                        </a:rPr>
                        <m:t>𝐝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</m:sup>
                  </m:sSubSup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∇</m:t>
                  </m:r>
                  <m:r>
                    <a:rPr>
                      <a:latin typeface="Cambria Math" panose="02040503050406030204" pitchFamily="18" charset="0"/>
                    </a:rPr>
                    <m:t>𝑓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e>
                  </m:d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多维搜索问题的矛盾：</a:t>
            </a:r>
          </a:p>
          <a:p>
            <a:pPr lvl="0"/>
            <a:r>
              <a:t>将算力用于计算下降方向</a:t>
            </a:r>
          </a:p>
          <a:p>
            <a:pPr lvl="0"/>
            <a:r>
              <a:t>将算力用于计算最佳步长</a:t>
            </a:r>
          </a:p>
          <a:p>
            <a:pPr marL="0" lvl="0" indent="0">
              <a:buNone/>
            </a:pPr>
            <a:r>
              <a:t>一般来说方向的选取更为重要。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8 梯度方法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8.1</a:t>
            </a:r>
          </a:p>
          <a:p>
            <a:pPr marL="0" lvl="0" indent="0">
              <a:buNone/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t>函数在一个点处在沿着梯度方向增加最快。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∥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𝐝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𝜑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</m:d>
                          </m:e>
                        </m:mr>
                        <m:mr>
                          <m:e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≤∥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取负梯度方向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∥</m:t>
                            </m:r>
                            <m:r>
                              <m:rPr>
                                <m:sty m:val="p"/>
                              </m:rPr>
                              <a:rPr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𝑜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  <m:e/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8.2</a:t>
            </a:r>
          </a:p>
          <a:p>
            <a:pPr marL="0" lvl="0" indent="0">
              <a:buNone/>
            </a:pPr>
            <a:r>
              <a:t>最速下降法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𝛼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𝑎𝑟𝑔𝑚𝑖𝑛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>
                          <a:latin typeface="Cambria Math" panose="02040503050406030204" pitchFamily="18" charset="0"/>
                        </a:rPr>
                        <m:t>≥0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𝑓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e>
                  </m:d>
                </m:oMath>
              </m:oMathPara>
            </a14:m>
            <a:endParaRPr/>
          </a:p>
          <a:p>
            <a:pPr marL="0" lvl="0" indent="0">
              <a:buNone/>
            </a:pPr>
            <a:r>
              <a:t>在梯度法的同时计算一个一维搜索问题。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b="1"/>
                  <a:t>正交性</a:t>
                </a:r>
              </a:p>
              <a:p>
                <a:pPr marL="0" lvl="0" indent="0">
                  <a:buNone/>
                </a:pPr>
                <a:r>
                  <a:t>迭代过程得到序列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t>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>
                          <a:latin typeface="Cambria Math" panose="02040503050406030204" pitchFamily="18" charset="0"/>
                        </a:rPr>
                        <m:t>≥0,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Proof: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𝐷𝑓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m:rPr>
                                <m:sty m:val="p"/>
                              </m:rPr>
                              <a:rPr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⇒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⋅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Q.E.D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2873" b="-3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严格下降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∀</m:t>
                  </m:r>
                  <m:r>
                    <a:rPr>
                      <a:latin typeface="Cambria Math" panose="02040503050406030204" pitchFamily="18" charset="0"/>
                    </a:rPr>
                    <m:t>𝑘</m:t>
                  </m:r>
                  <m:r>
                    <a:rPr>
                      <a:latin typeface="Cambria Math" panose="02040503050406030204" pitchFamily="18" charset="0"/>
                    </a:rPr>
                    <m:t>≥0,</m:t>
                  </m:r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∇</m:t>
                  </m:r>
                  <m:r>
                    <a:rPr>
                      <a:latin typeface="Cambria Math" panose="02040503050406030204" pitchFamily="18" charset="0"/>
                    </a:rPr>
                    <m:t>𝑓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e>
                  </m:d>
                  <m:r>
                    <a:rPr>
                      <a:latin typeface="Cambria Math" panose="02040503050406030204" pitchFamily="18" charset="0"/>
                    </a:rPr>
                    <m:t>≠0,</m:t>
                  </m:r>
                  <m:r>
                    <a:rPr>
                      <a:latin typeface="Cambria Math" panose="02040503050406030204" pitchFamily="18" charset="0"/>
                    </a:rPr>
                    <m:t>𝑓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e>
                  </m:d>
                  <m:r>
                    <a:rPr>
                      <a:latin typeface="Cambria Math" panose="02040503050406030204" pitchFamily="18" charset="0"/>
                    </a:rPr>
                    <m:t>&lt;</m:t>
                  </m:r>
                  <m:r>
                    <a:rPr>
                      <a:latin typeface="Cambria Math" panose="02040503050406030204" pitchFamily="18" charset="0"/>
                    </a:rPr>
                    <m:t>𝑓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e>
                  </m:d>
                </m:oMath>
              </m:oMathPara>
            </a14:m>
            <a:endParaRPr b="1"/>
          </a:p>
          <a:p>
            <a:pPr marL="0" lvl="0" indent="0">
              <a:buNone/>
            </a:pPr>
            <a:r>
              <a:t>Obviously.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b="1"/>
                  <a:t>停止条件</a:t>
                </a:r>
                <a:r>
                  <a:t>：一阶必要条件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适合数值计算的停止条件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∥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∥&lt;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mr>
                        <m:mr>
                          <m:e/>
                          <m:e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𝐱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𝐱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num>
                              <m:den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𝐱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mr>
                        <m:mr>
                          <m:e/>
                          <m:e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𝐱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𝐱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{1,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𝐱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避免停止过程中分母过小。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2334" b="-7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0000" lnSpcReduction="20000"/>
              </a:bodyPr>
              <a:lstStyle/>
              <a:p>
                <a:pPr marL="0" lvl="0" indent="0">
                  <a:buNone/>
                </a:pPr>
                <a:r>
                  <a:t>二次函数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𝑄</m:t>
                    </m:r>
                    <m:r>
                      <a:rPr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t> 是对称正定矩阵。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最优的步长可以有解析解。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𝐠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𝐠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𝐠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>
                              <a:latin typeface="Cambria Math" panose="02040503050406030204" pitchFamily="18" charset="0"/>
                            </a:rPr>
                            <m:t>𝑄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𝐠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Proof: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𝑎𝑟𝑔𝑚𝑖𝑛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e/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𝐛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e/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𝐛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e/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𝐛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e/>
                        </m:mr>
                        <m:m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𝐛</m:t>
                                    </m:r>
                                  </m:e>
                                </m:d>
                              </m:num>
                              <m:den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  <m:e/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𝐛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7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当目标函数为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𝑓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>
                          <a:latin typeface="Cambria Math" panose="02040503050406030204" pitchFamily="18" charset="0"/>
                        </a:rPr>
                        <m:t>𝐱</m:t>
                      </m:r>
                    </m:e>
                  </m:d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5</m:t>
                      </m:r>
                    </m:den>
                  </m:f>
                  <m:r>
                    <a:rPr>
                      <a:latin typeface="Cambria Math" panose="02040503050406030204" pitchFamily="18" charset="0"/>
                    </a:rPr>
                    <m:t>+</m:t>
                  </m:r>
                  <m:sSubSup>
                    <m:sSub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</m:oMath>
              </m:oMathPara>
            </a14:m>
            <a:endParaRPr/>
          </a:p>
          <a:p>
            <a:pPr marL="0" lvl="0" indent="0">
              <a:buNone/>
            </a:pPr>
            <a:r>
              <a:t>图像为比较扁的椭圆，迭代路径会不停在狭窄的谷底抖动。这是最速下降法的缺陷之一。</a:t>
            </a:r>
          </a:p>
          <a:p>
            <a:pPr marL="0" lvl="0" indent="0">
              <a:buNone/>
            </a:pPr>
            <a:r>
              <a:t>可以使用预调矩阵将水平集进行变换，把它”变圆“。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8.3</a:t>
            </a:r>
          </a:p>
          <a:p>
            <a:pPr marL="0" lvl="0" indent="0">
              <a:buNone/>
            </a:pPr>
            <a:r>
              <a:t>梯度方法的性质分析——收敛性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全局收敛：任意初始点产生的迭代序列收敛到一阶必要条件的点。</a:t>
            </a:r>
          </a:p>
          <a:p>
            <a:pPr marL="0" lvl="0" indent="0">
              <a:buNone/>
            </a:pPr>
            <a:r>
              <a:t>收敛有多快？</a:t>
            </a:r>
          </a:p>
          <a:p>
            <a:pPr marL="0" lvl="0" indent="0">
              <a:buNone/>
            </a:pPr>
            <a:r>
              <a:t>局部收敛：足够靠近极小点的初始点产生的迭代序列收敛到一阶必要条件的点。</a:t>
            </a:r>
          </a:p>
          <a:p>
            <a:pPr marL="0" lvl="0" indent="0">
              <a:buNone/>
            </a:pPr>
            <a:r>
              <a:t>离极小点得有多近？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目标函数设定为二次函数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e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mr>
                    <m:m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e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𝐐𝐱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mr>
                    <m:m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𝐅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mr>
                    <m:mr>
                      <m:e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mr>
                  </m:m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最速下降法</a:t>
            </a:r>
          </a:p>
          <a:p>
            <a:pPr lvl="0"/>
            <a:r>
              <a:t>固定步长下降法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e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mr>
                    <m:mr>
                      <m:e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𝐐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𝐐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mr>
                    <m:mr>
                      <m:e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mr>
                  </m:m>
                </m:oMath>
              </m:oMathPara>
            </a14:m>
            <a:endParaRPr/>
          </a:p>
          <a:p>
            <a:pPr marL="0" lvl="0" indent="0">
              <a:buNone/>
            </a:pPr>
            <a:r>
              <a:t>当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𝐱</m:t>
                </m:r>
                <m:r>
                  <a:rPr>
                    <a:latin typeface="Cambria Math" panose="02040503050406030204" pitchFamily="18" charset="0"/>
                  </a:rPr>
                  <m:t>=</m:t>
                </m:r>
                <m:sSup>
                  <m:sSupPr>
                    <m:ctrlPr>
                      <a:rPr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𝐱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∗</m:t>
                    </m:r>
                  </m:sup>
                </m:sSup>
              </m:oMath>
            </a14:m>
            <a:r>
              <a:t>，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𝑉</m:t>
                </m:r>
                <m:d>
                  <m:dPr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>
                        <a:latin typeface="Cambria Math" panose="02040503050406030204" pitchFamily="18" charset="0"/>
                      </a:rPr>
                      <m:t>𝐱</m:t>
                    </m:r>
                  </m:e>
                </m:d>
                <m:r>
                  <a:rPr>
                    <a:latin typeface="Cambria Math" panose="02040503050406030204" pitchFamily="18" charset="0"/>
                  </a:rPr>
                  <m:t>=0</m:t>
                </m:r>
              </m:oMath>
            </a14:m>
            <a:r>
              <a:t>. 可以用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∥</m:t>
                </m:r>
                <m:r>
                  <a:rPr>
                    <a:latin typeface="Cambria Math" panose="02040503050406030204" pitchFamily="18" charset="0"/>
                  </a:rPr>
                  <m:t>𝑉</m:t>
                </m:r>
                <m:d>
                  <m:dPr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>
                        <a:latin typeface="Cambria Math" panose="02040503050406030204" pitchFamily="18" charset="0"/>
                      </a:rPr>
                      <m:t>𝐱</m:t>
                    </m:r>
                  </m:e>
                </m:d>
                <m:r>
                  <a:rPr>
                    <a:latin typeface="Cambria Math" panose="02040503050406030204" pitchFamily="18" charset="0"/>
                  </a:rPr>
                  <m:t>∥</m:t>
                </m:r>
              </m:oMath>
            </a14:m>
            <a:r>
              <a:t> 的大小衡量收敛的情况。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迭代公式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/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mr>
                    <m:mr>
                      <m:e/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𝐐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mr>
                  </m:m>
                </m:oMath>
              </m:oMathPara>
            </a14:m>
            <a:endParaRPr/>
          </a:p>
          <a:p>
            <a:pPr marL="0" lvl="0" indent="0">
              <a:buNone/>
            </a:pPr>
            <a:r>
              <a:t>满足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𝑉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e>
                  </m:d>
                  <m:r>
                    <a:rPr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e>
                  </m:d>
                  <m:r>
                    <a:rPr>
                      <a:latin typeface="Cambria Math" panose="02040503050406030204" pitchFamily="18" charset="0"/>
                    </a:rPr>
                    <m:t>𝑉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e>
                  </m:d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7500" lnSpcReduction="20000"/>
              </a:bodyPr>
              <a:lstStyle/>
              <a:p>
                <a:pPr marL="0" lvl="0" indent="0">
                  <a:buNone/>
                </a:pPr>
                <a:r>
                  <a:t>可以求解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t>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𝑄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𝐲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𝐲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𝐲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𝐲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𝐲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t>迭代序列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t> 收敛于极小点的充分必要条件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=∞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Proof: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 ⇔ 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 ⇔ 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→0</m:t>
                            </m:r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 ⇔ </m:t>
                            </m:r>
                            <m:nary>
                              <m:naryPr>
                                <m:chr m:val="∏"/>
                                <m:limLoc m:val="undOvr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  <m:r>
                              <a:rPr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 ⇔ −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e>
                            </m:nary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=∞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26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To prove: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nary>
                    <m:naryPr>
                      <m:chr m:val="∑"/>
                      <m:limLoc m:val="undOvr"/>
                      <m:ctrlPr>
                        <a:rPr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>
                          <a:latin typeface="Cambria Math" panose="02040503050406030204" pitchFamily="18" charset="0"/>
                        </a:rPr>
                        <m:t>=0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∞</m:t>
                      </m:r>
                    </m:sup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e>
                  </m:nary>
                  <m:r>
                    <a:rPr>
                      <a:latin typeface="Cambria Math" panose="02040503050406030204" pitchFamily="18" charset="0"/>
                    </a:rPr>
                    <m:t>=∞ ⇔ −</m:t>
                  </m:r>
                  <m:nary>
                    <m:naryPr>
                      <m:chr m:val="∑"/>
                      <m:limLoc m:val="undOvr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>
                          <a:latin typeface="Cambria Math" panose="02040503050406030204" pitchFamily="18" charset="0"/>
                        </a:rPr>
                        <m:t>=0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∞</m:t>
                      </m:r>
                    </m:sup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ln</m:t>
                      </m:r>
                    </m:e>
                  </m:nary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e>
                  </m:d>
                  <m:r>
                    <a:rPr>
                      <a:latin typeface="Cambria Math" panose="02040503050406030204" pitchFamily="18" charset="0"/>
                    </a:rPr>
                    <m:t>=∞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Step 1: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mr>
                    <m:mr>
                      <m:e/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>
                            <a:latin typeface="Cambria Math" panose="02040503050406030204" pitchFamily="18" charset="0"/>
                          </a:rPr>
                          <m:t>=∞⇒−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</m:nary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=∞</m:t>
                        </m:r>
                      </m:e>
                    </m:mr>
                  </m:m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t>Step2: （反证法）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>
                                <a:latin typeface="Cambria Math" panose="02040503050406030204" pitchFamily="18" charset="0"/>
                              </a:rPr>
                              <m:t>&lt;∞⇒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→0</m:t>
                            </m:r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[−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𝛾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p>
                                      <m:s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]</m:t>
                                        </m:r>
                                      </m:e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b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=1&lt;2</m:t>
                            </m:r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⇒∃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𝜀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&gt;0,∀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𝜀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,−</m:t>
                            </m:r>
                            <m:r>
                              <m:rPr>
                                <m:sty m:val="p"/>
                              </m:rPr>
                              <a:rPr>
                                <a:latin typeface="Cambria Math" panose="02040503050406030204" pitchFamily="18" charset="0"/>
                              </a:rPr>
                              <m:t>ln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&lt;2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⇒−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e>
                            </m:nary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&lt;2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>
                                <a:latin typeface="Cambria Math" panose="02040503050406030204" pitchFamily="18" charset="0"/>
                              </a:rPr>
                              <m:t>&lt;∞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Q.E.D</a:t>
                </a:r>
              </a:p>
              <a:p>
                <a:pPr marL="0" lvl="0" indent="0">
                  <a:buNone/>
                </a:pPr>
                <a:r>
                  <a:t>注意到在 Step 2 中的证明中，条件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t> 是必不可少的，这和之前最速下降法的严格下降性质对应。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4"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瑞利不等式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∀</m:t>
                  </m:r>
                  <m:r>
                    <a:rPr>
                      <a:latin typeface="Cambria Math" panose="02040503050406030204" pitchFamily="18" charset="0"/>
                    </a:rPr>
                    <m:t>𝐐</m:t>
                  </m:r>
                  <m:r>
                    <a:rPr>
                      <a:latin typeface="Cambria Math" panose="02040503050406030204" pitchFamily="18" charset="0"/>
                    </a:rPr>
                    <m:t>∈</m:t>
                  </m:r>
                  <m:sSup>
                    <m:s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ℝ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,</m:t>
                  </m:r>
                  <m:r>
                    <a:rPr>
                      <a:latin typeface="Cambria Math" panose="02040503050406030204" pitchFamily="18" charset="0"/>
                    </a:rPr>
                    <m:t>𝐐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sSup>
                    <m:s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𝐐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&gt;0,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𝑚𝑖𝑛</m:t>
                      </m:r>
                    </m:sub>
                  </m:sSub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>
                          <a:latin typeface="Cambria Math" panose="02040503050406030204" pitchFamily="18" charset="0"/>
                        </a:rPr>
                        <m:t>𝐐</m:t>
                      </m:r>
                    </m:e>
                  </m:d>
                  <m:r>
                    <a:rPr>
                      <a:latin typeface="Cambria Math" panose="02040503050406030204" pitchFamily="18" charset="0"/>
                    </a:rPr>
                    <m:t>∥</m:t>
                  </m:r>
                  <m:r>
                    <a:rPr>
                      <a:latin typeface="Cambria Math" panose="02040503050406030204" pitchFamily="18" charset="0"/>
                    </a:rPr>
                    <m:t>𝐱</m:t>
                  </m:r>
                  <m:sSup>
                    <m:s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∥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≤</m:t>
                  </m:r>
                  <m:sSup>
                    <m:s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𝐱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𝐐𝐱</m:t>
                  </m:r>
                  <m:r>
                    <a:rPr>
                      <a:latin typeface="Cambria Math" panose="02040503050406030204" pitchFamily="18" charset="0"/>
                    </a:rPr>
                    <m:t>≤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𝑚𝑎𝑥</m:t>
                      </m:r>
                    </m:sub>
                  </m:sSub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>
                          <a:latin typeface="Cambria Math" panose="02040503050406030204" pitchFamily="18" charset="0"/>
                        </a:rPr>
                        <m:t>𝐐</m:t>
                      </m:r>
                    </m:e>
                  </m:d>
                  <m:r>
                    <a:rPr>
                      <a:latin typeface="Cambria Math" panose="02040503050406030204" pitchFamily="18" charset="0"/>
                    </a:rPr>
                    <m:t>∥</m:t>
                  </m:r>
                  <m:r>
                    <a:rPr>
                      <a:latin typeface="Cambria Math" panose="02040503050406030204" pitchFamily="18" charset="0"/>
                    </a:rPr>
                    <m:t>𝐱</m:t>
                  </m:r>
                  <m:sSup>
                    <m:s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∥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7500" lnSpcReduction="20000"/>
              </a:bodyPr>
              <a:lstStyle/>
              <a:p>
                <a:pPr marL="0" lvl="0" indent="0">
                  <a:buNone/>
                </a:pPr>
                <a:r>
                  <a:t>将之前求得的目标函数为二次函数的最速下降法的步长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𝐠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𝐠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𝐠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>
                              <a:latin typeface="Cambria Math" panose="02040503050406030204" pitchFamily="18" charset="0"/>
                            </a:rPr>
                            <m:t>𝐐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𝐠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带入下降因子中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𝐠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  <m:sup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𝐠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根据 Rayleigh 不等式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≤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den>
                            </m:f>
                          </m:e>
                        </m:mr>
                        <m:mr>
                          <m:e/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>
                                <a:latin typeface="Cambria Math" panose="02040503050406030204" pitchFamily="18" charset="0"/>
                              </a:rPr>
                              <m:t>=∞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这个过程和初始取点无关，因此：</a:t>
                </a:r>
              </a:p>
              <a:p>
                <a:pPr marL="0" lvl="0" indent="0">
                  <a:buNone/>
                </a:pPr>
                <a:r>
                  <a:t>最速下降法为</a:t>
                </a:r>
                <a:r>
                  <a:rPr b="1"/>
                  <a:t>全局收敛</a:t>
                </a:r>
                <a:r>
                  <a:t>算法。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32500" lnSpcReduction="20000"/>
              </a:bodyPr>
              <a:lstStyle/>
              <a:p>
                <a:pPr marL="0" lvl="0" indent="0">
                  <a:buNone/>
                </a:pPr>
                <a:r>
                  <a:t>固定步长算法在满足条件时为</a:t>
                </a:r>
                <a:r>
                  <a:rPr b="1"/>
                  <a:t>全局收敛</a:t>
                </a:r>
                <a:r>
                  <a:t>算法。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0&lt;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Proof:</a:t>
                </a:r>
              </a:p>
              <a:p>
                <a:pPr marL="0" lvl="0" indent="0">
                  <a:buNone/>
                </a:pPr>
                <a:r>
                  <a:t>Sufficiency: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𝐐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</m:d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𝐐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</m:mr>
                        <m:mr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=∞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Necessity: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𝐛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𝐈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</m:d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如果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t> 是矩阵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𝐐</m:t>
                    </m:r>
                  </m:oMath>
                </a14:m>
                <a:r>
                  <a:t> 的特征向量，对应特征值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t>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</m:d>
                              </m:e>
                            </m:d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𝐐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如果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𝛼</m:t>
                    </m:r>
                    <m:r>
                      <a:rPr>
                        <a:latin typeface="Cambria Math" panose="02040503050406030204" pitchFamily="18" charset="0"/>
                      </a:rPr>
                      <m:t>≤0</m:t>
                    </m:r>
                    <m:r>
                      <m:rPr>
                        <m:nor/>
                      </m:rPr>
                      <a:rPr/>
                      <m:t> </m:t>
                    </m:r>
                    <m:r>
                      <m:rPr>
                        <m:nor/>
                      </m:rPr>
                      <a:rPr/>
                      <m:t>or</m:t>
                    </m:r>
                    <m:r>
                      <m:rPr>
                        <m:nor/>
                      </m:rPr>
                      <a:rPr/>
                      <m:t> </m:t>
                    </m:r>
                    <m:r>
                      <a:rPr>
                        <a:latin typeface="Cambria Math" panose="02040503050406030204" pitchFamily="18" charset="0"/>
                      </a:rPr>
                      <m:t>𝛼</m:t>
                    </m:r>
                    <m:r>
                      <a:rPr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</m:d>
                      </m:den>
                    </m:f>
                  </m:oMath>
                </a14:m>
                <a:r>
                  <a:t>, 将不收敛。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收敛率</a:t>
            </a:r>
          </a:p>
          <a:p>
            <a:pPr marL="0" lvl="0" indent="0">
              <a:buNone/>
            </a:pPr>
            <a:r>
              <a:t>矩阵的条件数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𝑟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</m:num>
                    <m:den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</m:den>
                  </m:f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收敛阶数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0&lt;</m:t>
                  </m:r>
                  <m:limLow>
                    <m:limLow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limLowPr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lim</m:t>
                      </m:r>
                    </m:e>
                    <m:lim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>
                          <a:latin typeface="Cambria Math" panose="02040503050406030204" pitchFamily="18" charset="0"/>
                        </a:rPr>
                        <m:t>→∞</m:t>
                      </m:r>
                    </m:lim>
                  </m:limLow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>
                          <a:latin typeface="Cambria Math" panose="02040503050406030204" pitchFamily="18" charset="0"/>
                        </a:rPr>
                        <m:t>∥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∥</m:t>
                      </m:r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∥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den>
                  </m:f>
                  <m:r>
                    <a:rPr>
                      <a:latin typeface="Cambria Math" panose="02040503050406030204" pitchFamily="18" charset="0"/>
                    </a:rPr>
                    <m:t>&lt;∞</m:t>
                  </m:r>
                </m:oMath>
              </m:oMathPara>
            </a14:m>
            <a:endParaRPr b="1"/>
          </a:p>
          <a:p>
            <a:pPr marL="0" lvl="0" indent="0">
              <a:buNone/>
            </a:pPr>
            <a:r>
              <a:t>最速下降法在最不理想的情况下收敛阶数为 1.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9 牛顿法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9.1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t>在确定搜索方向的时候，最速下降法只用到了一阶导数（梯度），如果用到二阶导数？</a:t>
                </a:r>
              </a:p>
              <a:p>
                <a:pPr marL="0" lvl="0" indent="0">
                  <a:buNone/>
                </a:pPr>
                <a:r>
                  <a:t>将目标函数在迭代点附近进行二阶泰勒展开。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𝐅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𝑜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mr>
                        <m:mr>
                          <m:e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≈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𝐅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26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牛顿法分两步：</a:t>
            </a:r>
          </a:p>
          <a:p>
            <a:pPr marL="342900" lvl="0" indent="-342900">
              <a:buAutoNum type="arabicPeriod"/>
            </a:pPr>
            <a:r>
              <a:t>求解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𝐅</m:t>
                </m:r>
                <m:d>
                  <m:dPr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e>
                </m:d>
                <m:sSub>
                  <m:sSubPr>
                    <m:ctrlPr>
                      <a:rPr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𝐝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=−</m:t>
                </m:r>
                <m:sSub>
                  <m:sSubPr>
                    <m:ctrlPr>
                      <a:rPr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𝐠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sub>
                </m:sSub>
              </m:oMath>
            </a14:m>
            <a:endParaRPr/>
          </a:p>
          <a:p>
            <a:pPr marL="342900" lvl="0" indent="-342900">
              <a:buAutoNum type="arabicPeriod"/>
            </a:pPr>
            <a:r>
              <a:t>迭代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𝐱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  <m:r>
                      <a:rPr>
                        <a:latin typeface="Cambria Math" panose="02040503050406030204" pitchFamily="18" charset="0"/>
                      </a:rPr>
                      <m:t>+1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𝐱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+</m:t>
                </m:r>
                <m:sSub>
                  <m:sSubPr>
                    <m:ctrlPr>
                      <a:rPr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𝐝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sub>
                </m:sSub>
              </m:oMath>
            </a14:m>
            <a:endParaRPr/>
          </a:p>
          <a:p>
            <a:pPr marL="0" lvl="0" indent="0">
              <a:buNone/>
            </a:pPr>
            <a:r>
              <a:t>牛顿法也可以用于求解多元方程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𝐠</m:t>
                </m:r>
                <m:d>
                  <m:dPr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>
                        <a:latin typeface="Cambria Math" panose="02040503050406030204" pitchFamily="18" charset="0"/>
                      </a:rPr>
                      <m:t>𝐱</m:t>
                    </m:r>
                  </m:e>
                </m:d>
                <m:r>
                  <a:rPr>
                    <a:latin typeface="Cambria Math" panose="02040503050406030204" pitchFamily="18" charset="0"/>
                  </a:rPr>
                  <m:t>=0</m:t>
                </m:r>
              </m:oMath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𝐅</m:t>
                </m:r>
                <m:d>
                  <m:dPr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>
                        <a:latin typeface="Cambria Math" panose="02040503050406030204" pitchFamily="18" charset="0"/>
                      </a:rPr>
                      <m:t>𝐱</m:t>
                    </m:r>
                  </m:e>
                </m:d>
              </m:oMath>
            </a14:m>
            <a:r>
              <a:t> 为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𝐠</m:t>
                </m:r>
                <m:d>
                  <m:dPr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e>
                </m:d>
              </m:oMath>
            </a14:m>
            <a:r>
              <a:t> 的 Jacobian Matrix.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𝐅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>
                          <a:latin typeface="Cambria Math" panose="02040503050406030204" pitchFamily="18" charset="0"/>
                        </a:rPr>
                        <m:t>∂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∂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den>
                  </m:f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9.2</a:t>
            </a:r>
          </a:p>
          <a:p>
            <a:pPr marL="0" lvl="0" indent="0">
              <a:buNone/>
            </a:pPr>
            <a:r>
              <a:t>牛顿法的性质分析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𝑓</m:t>
                  </m:r>
                  <m:r>
                    <a:rPr>
                      <a:latin typeface="Cambria Math" panose="02040503050406030204" pitchFamily="18" charset="0"/>
                    </a:rPr>
                    <m:t>∈</m:t>
                  </m:r>
                  <m:sSup>
                    <m:s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3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,</m:t>
                  </m:r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∇</m:t>
                  </m:r>
                  <m:r>
                    <a:rPr>
                      <a:latin typeface="Cambria Math" panose="02040503050406030204" pitchFamily="18" charset="0"/>
                    </a:rPr>
                    <m:t>𝑓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e>
                  </m:d>
                  <m:r>
                    <a:rPr>
                      <a:latin typeface="Cambria Math" panose="02040503050406030204" pitchFamily="18" charset="0"/>
                    </a:rPr>
                    <m:t>=0,∃</m:t>
                  </m:r>
                  <m:sSup>
                    <m:s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𝐅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−1</m:t>
                      </m:r>
                    </m:sup>
                  </m:sSup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e>
                  </m:d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1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∀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∥&lt;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mr>
                  </m:m>
                </m:oMath>
              </m:oMathPara>
            </a14:m>
            <a:endParaRPr/>
          </a:p>
          <a:p>
            <a:pPr marL="0" lvl="0" indent="0">
              <a:buNone/>
            </a:pPr>
            <a:r>
              <a:t>Proof: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/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𝐅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∥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mr>
                  </m:m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牛顿法的缺陷：如果初始点离极小点较远，牛顿法不一定能收敛。</a:t>
            </a:r>
          </a:p>
          <a:p>
            <a:pPr marL="0" lvl="0" indent="0">
              <a:buNone/>
            </a:pPr>
            <a:r>
              <a:t>有时候会导致 Hessen 矩阵为奇异矩阵，方法失败。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加入一维搜索，计算牛顿法的步长。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9.3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牛顿法的缺陷 2：如果 Hessen 矩阵不正定</a:t>
            </a:r>
          </a:p>
          <a:p>
            <a:pPr marL="0" lvl="0" indent="0">
              <a:buNone/>
            </a:pPr>
            <a:r>
              <a:t>Levenberg Marquardt 修正。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𝐅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e>
                  </m:d>
                  <m:r>
                    <a:rPr>
                      <a:latin typeface="Cambria Math" panose="02040503050406030204" pitchFamily="18" charset="0"/>
                    </a:rPr>
                    <m:t>→</m:t>
                  </m:r>
                  <m:r>
                    <a:rPr>
                      <a:latin typeface="Cambria Math" panose="02040503050406030204" pitchFamily="18" charset="0"/>
                    </a:rPr>
                    <m:t>𝐅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e>
                  </m:d>
                  <m:r>
                    <a:rPr>
                      <a:latin typeface="Cambria Math" panose="02040503050406030204" pitchFamily="18" charset="0"/>
                    </a:rPr>
                    <m:t>+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𝜇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𝐼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9.4</a:t>
            </a:r>
          </a:p>
          <a:p>
            <a:pPr marL="0" lvl="0" indent="0">
              <a:buNone/>
            </a:pPr>
            <a:r>
              <a:t>在非线性最小二乘法中的应用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t>例子：用正弦函数拟合实验数据。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确定参数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𝜔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t>.</a:t>
                </a:r>
              </a:p>
              <a:p>
                <a:pPr marL="0" lvl="0" indent="0">
                  <a:buNone/>
                </a:pPr>
                <a:r>
                  <a:t>构造目标函数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m:rPr>
                                      <m:sty m:val="p"/>
                                    </m:rPr>
                                    <a:rPr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d>
                                    <m:d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决策变量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定义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28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10 共轭方向法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10.1</a:t>
            </a:r>
          </a:p>
          <a:p>
            <a:pPr marL="0" lvl="0" indent="0">
              <a:buNone/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t>二次型函数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𝐐𝐱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共轭方向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𝐐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共轭方向法的优势</a:t>
                </a:r>
              </a:p>
              <a:p>
                <a:pPr lvl="0"/>
                <a:r>
                  <a:t>n 维问题，n 步结果</a:t>
                </a:r>
              </a:p>
              <a:p>
                <a:pPr lvl="0"/>
                <a:r>
                  <a:t>共轭梯度法不需要计算黑森矩阵</a:t>
                </a:r>
              </a:p>
              <a:p>
                <a:pPr lvl="0"/>
                <a:r>
                  <a:t>不需要存储大矩阵，不需要求逆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23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任意小于等于正定实对称阵的阶数的共轭方向线性无关。</a:t>
            </a:r>
          </a:p>
          <a:p>
            <a:pPr marL="0" lvl="0" indent="0">
              <a:buNone/>
            </a:pPr>
            <a:r>
              <a:t>反证法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/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𝐝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+⋯+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𝐝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mr>
                    <m:mr>
                      <m:e/>
                      <m:e>
                        <m:sSubSup>
                          <m:sSub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𝐝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>
                            <a:latin typeface="Cambria Math" panose="02040503050406030204" pitchFamily="18" charset="0"/>
                          </a:rPr>
                          <m:t>𝐐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mr>
                    <m:mr>
                      <m:e/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Sup>
                          <m:sSub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𝐝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>
                            <a:latin typeface="Cambria Math" panose="02040503050406030204" pitchFamily="18" charset="0"/>
                          </a:rPr>
                          <m:t>𝐐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𝐝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mr>
                    <m:mr>
                      <m:e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𝐝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∥≠0,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𝐐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&gt;0⇒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mr>
                  </m:m>
                </m:oMath>
              </m:oMathPara>
            </a14:m>
            <a:endParaRPr/>
          </a:p>
          <a:p>
            <a:pPr marL="0" lvl="0" indent="0">
              <a:buNone/>
            </a:pPr>
            <a:r>
              <a:t>构成一组基。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通过 Gram-Schmidt 方法构造共轭方向。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10.2</a:t>
            </a:r>
          </a:p>
          <a:p>
            <a:pPr marL="0" lvl="0" indent="0">
              <a:buNone/>
            </a:pPr>
            <a:r>
              <a:t>基本的共轭方向法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基本的共轭方向算法：以共轭方向作为下降的方向。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𝐝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mr>
                    <m:m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mr>
                  </m:m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lvl="0" indent="0">
                  <a:buNone/>
                </a:pPr>
                <a:r>
                  <a:t>n 步收敛性质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∀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Proof: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To prove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Q.E.D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" t="-12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共轭方向算法，每一步都是贪心算法。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𝑓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e>
                  </m:d>
                  <m:r>
                    <a:rPr>
                      <a:latin typeface="Cambria Math" panose="02040503050406030204" pitchFamily="18" charset="0"/>
                    </a:rPr>
                    <m:t>=</m:t>
                  </m:r>
                  <m:limLow>
                    <m:limLow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limLowPr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min</m:t>
                      </m:r>
                    </m:e>
                    <m:lim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0,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⋯,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lim>
                  </m:limLow>
                  <m:r>
                    <a:rPr>
                      <a:latin typeface="Cambria Math" panose="02040503050406030204" pitchFamily="18" charset="0"/>
                    </a:rPr>
                    <m:t>𝑓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e>
                  </m:d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10.3</a:t>
            </a:r>
          </a:p>
          <a:p>
            <a:pPr marL="0" lvl="0" indent="0">
              <a:buNone/>
            </a:pPr>
            <a:r>
              <a:t>共轭梯度法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t>随着迭代不断计算出共轭方向。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Proof: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𝐝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𝐝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𝐝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数学归纳法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4" t="-2154" b="-5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10.4</a:t>
            </a:r>
          </a:p>
          <a:p>
            <a:pPr marL="0" lvl="0" indent="0">
              <a:buNone/>
            </a:pPr>
            <a:r>
              <a:t>目标函数为一般函数时的共轭梯度法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t>如何避免计算黑森矩阵？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t> 的求解直接使用一维搜索算法。</a:t>
                </a:r>
              </a:p>
              <a:p>
                <a:pPr marL="0" lvl="0" indent="0">
                  <a:buNone/>
                </a:pPr>
                <a:r>
                  <a:t>用若干方法替换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t> 中的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𝐝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t>.</a:t>
                </a:r>
              </a:p>
              <a:p>
                <a:pPr marL="0" lvl="0" indent="0">
                  <a:buNone/>
                </a:pPr>
                <a:r>
                  <a:t>三种公式</a:t>
                </a:r>
              </a:p>
              <a:p>
                <a:pPr lvl="0"/>
                <a:r>
                  <a:t>Hestens-Stiefel</a:t>
                </a:r>
              </a:p>
              <a:p>
                <a:pPr lvl="0"/>
                <a:r>
                  <a:t>Polak-Ribiere</a:t>
                </a:r>
              </a:p>
              <a:p>
                <a:pPr lvl="0"/>
                <a:r>
                  <a:t>Fletcher-Reeves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4"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11 拟牛顿法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11.1</a:t>
            </a:r>
          </a:p>
          <a:p>
            <a:pPr marL="0" lvl="0" indent="0">
              <a:buNone/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牛顿法的缺陷</a:t>
            </a:r>
          </a:p>
          <a:p>
            <a:pPr marL="342900" lvl="0" indent="-342900">
              <a:buAutoNum type="arabicPeriod"/>
            </a:pPr>
            <a:r>
              <a:t>不能保证全局收敛</a:t>
            </a:r>
          </a:p>
          <a:p>
            <a:pPr marL="342900" lvl="0" indent="-342900">
              <a:buAutoNum type="arabicPeriod"/>
            </a:pPr>
            <a:r>
              <a:t>必须计算黑森矩阵，对于不正定的情况，不一定能找到下一个迭代点</a:t>
            </a:r>
          </a:p>
          <a:p>
            <a:pPr marL="342900" lvl="0" indent="-342900">
              <a:buAutoNum type="arabicPeriod"/>
            </a:pPr>
            <a:r>
              <a:t>矩阵求逆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11.2</a:t>
            </a:r>
          </a:p>
          <a:p>
            <a:pPr marL="0" lvl="0" indent="0">
              <a:buNone/>
            </a:pPr>
            <a:r>
              <a:t>黑森矩阵逆矩阵的近似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𝐝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=−</m:t>
                  </m:r>
                  <m:r>
                    <a:rPr>
                      <a:latin typeface="Cambria Math" panose="02040503050406030204" pitchFamily="18" charset="0"/>
                    </a:rPr>
                    <m:t>𝐅</m:t>
                  </m:r>
                  <m:sSup>
                    <m:s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pPr>
                    <m:e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−1</m:t>
                      </m:r>
                    </m:sup>
                  </m:sSup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𝐠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</m:sub>
                  </m:sSub>
                </m:oMath>
              </m:oMathPara>
            </a14:m>
            <a:endParaRPr/>
          </a:p>
          <a:p>
            <a:pPr marL="0" lvl="0" indent="0">
              <a:buNone/>
            </a:pPr>
            <a:r>
              <a:t>构造近似矩阵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𝐇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≈</m:t>
                </m:r>
                <m:r>
                  <a:rPr>
                    <a:latin typeface="Cambria Math" panose="02040503050406030204" pitchFamily="18" charset="0"/>
                  </a:rPr>
                  <m:t>𝐅</m:t>
                </m:r>
                <m:sSup>
                  <m:sSupPr>
                    <m:ctrlPr>
                      <a:rPr i="1">
                        <a:latin typeface="Cambria Math" panose="02040503050406030204" pitchFamily="18" charset="0"/>
                      </a:rPr>
                    </m:ctrlPr>
                  </m:sSupPr>
                  <m:e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−1</m:t>
                    </m:r>
                  </m:sup>
                </m:sSup>
              </m:oMath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/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𝐅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𝐠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mr>
                    <m:m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𝐠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mr>
                    <m:m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e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𝐠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𝑜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</m:d>
                      </m:e>
                    </m:mr>
                    <m:mr>
                      <m:e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𝐠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𝑜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</m:d>
                      </m:e>
                    </m:mr>
                    <m:mr>
                      <m:e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𝐠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𝐠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𝑜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</m:d>
                      </m:e>
                    </m:mr>
                  </m:m>
                </m:oMath>
              </m:oMathPara>
            </a14:m>
            <a:endParaRPr/>
          </a:p>
          <a:p>
            <a:pPr marL="0" lvl="0" indent="0">
              <a:buNone/>
            </a:pPr>
            <a:r>
              <a:t>保证下降的最简单方法是使得近似矩阵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𝐇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sub>
                </m:sSub>
              </m:oMath>
            </a14:m>
            <a:r>
              <a:t> 为正定矩阵。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lvl="0" indent="0">
                  <a:buNone/>
                </a:pPr>
                <a:r>
                  <a:t>如何保证所谓的“</a:t>
                </a:r>
                <a:r>
                  <a:rPr b="1"/>
                  <a:t>近似</a:t>
                </a:r>
                <a:r>
                  <a:t>？先讨论他们应该满足的条件。</a:t>
                </a:r>
              </a:p>
              <a:p>
                <a:pPr marL="0" lvl="0" indent="0">
                  <a:buNone/>
                </a:pPr>
                <a:r>
                  <a:t>对于二次函数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𝐅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在生成的过程中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=0,1,⋯,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拟牛顿法的迭代公式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𝑎𝑟𝑔𝑚𝑖𝑛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&gt;0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6" t="-16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7500" lnSpcReduction="20000"/>
              </a:bodyPr>
              <a:lstStyle/>
              <a:p>
                <a:pPr marL="0" lvl="0" indent="0">
                  <a:buNone/>
                </a:pPr>
                <a:r>
                  <a:t>拟牛顿法也是一种共轭方向法。</a:t>
                </a:r>
              </a:p>
              <a:p>
                <a:pPr marL="0" lvl="0" indent="0">
                  <a:buNone/>
                </a:pPr>
                <a:r>
                  <a:t>对于对称的矩阵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𝛥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𝐠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𝛥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>
                          <a:latin typeface="Cambria Math" panose="02040503050406030204" pitchFamily="18" charset="0"/>
                        </a:rPr>
                        <m:t>=0,1,⋯,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𝐝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𝐝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𝐝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t> 关于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𝐐</m:t>
                    </m:r>
                  </m:oMath>
                </a14:m>
                <a:r>
                  <a:t> 是共轭的。</a:t>
                </a:r>
              </a:p>
              <a:p>
                <a:pPr marL="0" lvl="0" indent="0">
                  <a:buNone/>
                </a:pPr>
                <a:r>
                  <a:t>证明采用数学归纳法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=−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=−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=−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𝑎𝑟𝑔𝑚𝑖𝑛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𝜑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⇒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假设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𝐝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,⋯,</m:t>
                </m:r>
                <m:sSub>
                  <m:sSubPr>
                    <m:ctrlPr>
                      <a:rPr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𝐝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sub>
                </m:sSub>
              </m:oMath>
            </a14:m>
            <a:r>
              <a:t> 关于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𝐐</m:t>
                </m:r>
              </m:oMath>
            </a14:m>
            <a:r>
              <a:t> 共轭。下证：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∀</m:t>
                </m:r>
                <m:r>
                  <a:rPr>
                    <a:latin typeface="Cambria Math" panose="02040503050406030204" pitchFamily="18" charset="0"/>
                  </a:rPr>
                  <m:t>𝑖</m:t>
                </m:r>
                <m:r>
                  <a:rPr>
                    <a:latin typeface="Cambria Math" panose="02040503050406030204" pitchFamily="18" charset="0"/>
                  </a:rPr>
                  <m:t>=0,⋯,</m:t>
                </m:r>
                <m:r>
                  <a:rPr>
                    <a:latin typeface="Cambria Math" panose="02040503050406030204" pitchFamily="18" charset="0"/>
                  </a:rPr>
                  <m:t>𝑘</m:t>
                </m:r>
                <m:r>
                  <a:rPr>
                    <a:latin typeface="Cambria Math" panose="02040503050406030204" pitchFamily="18" charset="0"/>
                  </a:rPr>
                  <m:t>,</m:t>
                </m:r>
                <m:sSubSup>
                  <m:sSubSupPr>
                    <m:ctrlPr>
                      <a:rPr i="1"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>
                        <a:latin typeface="Cambria Math" panose="02040503050406030204" pitchFamily="18" charset="0"/>
                      </a:rPr>
                      <m:t>𝐝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  <m:r>
                      <a:rPr>
                        <a:latin typeface="Cambria Math" panose="02040503050406030204" pitchFamily="18" charset="0"/>
                      </a:rPr>
                      <m:t>+1</m:t>
                    </m:r>
                  </m:sub>
                  <m:sup>
                    <m:r>
                      <a:rPr>
                        <a:latin typeface="Cambria Math" panose="02040503050406030204" pitchFamily="18" charset="0"/>
                      </a:rPr>
                      <m:t>𝑇</m:t>
                    </m:r>
                  </m:sup>
                </m:sSubSup>
                <m:r>
                  <a:rPr>
                    <a:latin typeface="Cambria Math" panose="02040503050406030204" pitchFamily="18" charset="0"/>
                  </a:rPr>
                  <m:t>𝐐</m:t>
                </m:r>
                <m:sSub>
                  <m:sSubPr>
                    <m:ctrlPr>
                      <a:rPr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𝐝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=0</m:t>
                </m:r>
              </m:oMath>
            </a14:m>
            <a:endParaRPr/>
          </a:p>
          <a:p>
            <a:pPr marL="0" lvl="0" indent="0">
              <a:buNone/>
            </a:pPr>
            <a:r>
              <a:t>应用相同的思路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>
                        <m:sSubSup>
                          <m:sSub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𝐝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>
                            <a:latin typeface="Cambria Math" panose="02040503050406030204" pitchFamily="18" charset="0"/>
                          </a:rPr>
                          <m:t>𝐐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𝐝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𝐠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𝛥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𝐝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mr>
                  </m:m>
                </m:oMath>
              </m:oMathPara>
            </a14:m>
            <a:endParaRPr/>
          </a:p>
          <a:p>
            <a:pPr marL="0" lvl="0" indent="0">
              <a:buNone/>
            </a:pPr>
            <a:r>
              <a:t>根据此时梯度与此前任意共轭方向正交的特性，</a:t>
            </a:r>
            <a14:m xmlns:a14="http://schemas.microsoft.com/office/drawing/2010/main">
              <m:oMath xmlns:m="http://schemas.openxmlformats.org/officeDocument/2006/math">
                <m:sSubSup>
                  <m:sSubSupPr>
                    <m:ctrlPr>
                      <a:rPr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>
                        <a:latin typeface="Cambria Math" panose="02040503050406030204" pitchFamily="18" charset="0"/>
                      </a:rPr>
                      <m:t>𝐝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  <m:r>
                      <a:rPr>
                        <a:latin typeface="Cambria Math" panose="02040503050406030204" pitchFamily="18" charset="0"/>
                      </a:rPr>
                      <m:t>+1</m:t>
                    </m:r>
                  </m:sub>
                  <m:sup>
                    <m:r>
                      <a:rPr>
                        <a:latin typeface="Cambria Math" panose="02040503050406030204" pitchFamily="18" charset="0"/>
                      </a:rPr>
                      <m:t>𝑇</m:t>
                    </m:r>
                  </m:sup>
                </m:sSubSup>
                <m:r>
                  <a:rPr>
                    <a:latin typeface="Cambria Math" panose="02040503050406030204" pitchFamily="18" charset="0"/>
                  </a:rPr>
                  <m:t>𝐐</m:t>
                </m:r>
                <m:sSub>
                  <m:sSubPr>
                    <m:ctrlPr>
                      <a:rPr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𝐝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=0</m:t>
                </m:r>
              </m:oMath>
            </a14:m>
            <a:endParaRPr/>
          </a:p>
          <a:p>
            <a:pPr marL="0" lvl="0" indent="0">
              <a:buNone/>
            </a:pPr>
            <a:r>
              <a:t>后续讨论构造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𝐇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sub>
                </m:sSub>
              </m:oMath>
            </a14:m>
            <a:r>
              <a:t> （不唯一）的三种方法。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11.3</a:t>
            </a:r>
          </a:p>
          <a:p>
            <a:pPr marL="0" lvl="0" indent="0">
              <a:buNone/>
            </a:pPr>
            <a:r>
              <a:t>秩一修正公式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lvl="0" indent="0">
                  <a:buNone/>
                </a:pPr>
                <a:r>
                  <a:t>矩阵的迭代方程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根据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𝛥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𝐠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𝛥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t>，求解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t>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d>
                              <m:d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𝐳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𝐳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𝐳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sSubSup>
                                      <m:sSub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𝐳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𝐇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𝛥</m:t>
                                        </m:r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𝐱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𝐇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𝛥</m:t>
                                        </m:r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𝐠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𝛥</m:t>
                                        </m:r>
                                        <m:sSubSup>
                                          <m:sSubSup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𝐠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  <m:sup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𝐳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sSubSup>
                                      <m:sSub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𝐳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𝐳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]=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𝐇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𝛥</m:t>
                                        </m:r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𝐱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𝐇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𝛥</m:t>
                                        </m:r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𝐠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𝐇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6" t="-16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t>秩一算法的步骤</a:t>
                </a:r>
              </a:p>
              <a:p>
                <a:pPr marL="342900" lvl="0" indent="-342900">
                  <a:buAutoNum type="arabicPeriod"/>
                </a:pPr>
                <a:r>
                  <a:t>置初始值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  <m:r>
                      <a:rPr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endParaRPr/>
              </a:p>
              <a:p>
                <a:pPr marL="342900" lvl="0" indent="-342900">
                  <a:buAutoNum type="arabicPeriod"/>
                </a:pPr>
                <a:r>
                  <a:rPr>
                    <a:latin typeface="Courier"/>
                  </a:rPr>
                  <a:t>while</a:t>
                </a:r>
                <a: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𝐠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𝐝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𝐠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/>
              </a:p>
              <a:p>
                <a:pPr marL="342900" lvl="0" indent="-342900">
                  <a:buAutoNum type="arabicPeriod"/>
                </a:pPr>
                <a:r>
                  <a:t>计算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𝑎𝑟𝑔𝑚𝑖𝑛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𝐇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𝛥</m:t>
                                        </m:r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𝐱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𝐇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𝛥</m:t>
                                        </m:r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𝐠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𝐇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5" t="-28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t>下面证明：虽然秩一算法是由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𝛥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𝐠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𝛥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t> 推导得到，但是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=0,1,⋯,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𝛥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𝐠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𝛥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即证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𝐇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𝛥</m:t>
                                        </m:r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𝐱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𝐇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𝛥</m:t>
                                        </m:r>
                                        <m:sSub>
                                          <m:sSubPr>
                                            <m:ctrlPr>
                                              <a:rPr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𝐠</m:t>
                                            </m:r>
                                          </m:e>
                                          <m:sub>
                                            <m:r>
                                              <a:rPr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sSubSup>
                                  <m:sSub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𝐇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⇒</m:t>
                            </m:r>
                          </m:e>
                          <m:e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𝐇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接下来顺着证明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𝐐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Q.E.D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4" t="-2154" b="-8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秩一算法的缺陷</a:t>
            </a:r>
          </a:p>
          <a:p>
            <a:pPr marL="342900" lvl="0" indent="-342900">
              <a:buAutoNum type="arabicPeriod"/>
            </a:pPr>
            <a:r>
              <a:t>迭代得到的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𝐇</m:t>
                </m:r>
              </m:oMath>
            </a14:m>
            <a:r>
              <a:t> 不一定是正定的。</a:t>
            </a:r>
          </a:p>
          <a:p>
            <a:pPr marL="342900" lvl="0" indent="-342900">
              <a:buAutoNum type="arabicPeriod"/>
            </a:pPr>
            <a:r>
              <a:t>当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𝛥</m:t>
                </m:r>
                <m:sSubSup>
                  <m:sSubSupPr>
                    <m:ctrlPr>
                      <a:rPr i="1"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>
                        <a:latin typeface="Cambria Math" panose="02040503050406030204" pitchFamily="18" charset="0"/>
                      </a:rPr>
                      <m:t>𝐠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sub>
                  <m:sup>
                    <m:r>
                      <a:rPr>
                        <a:latin typeface="Cambria Math" panose="02040503050406030204" pitchFamily="18" charset="0"/>
                      </a:rPr>
                      <m:t>𝑇</m:t>
                    </m:r>
                  </m:sup>
                </m:sSubSup>
                <m:d>
                  <m:dPr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>
                        <a:latin typeface="Cambria Math" panose="02040503050406030204" pitchFamily="18" charset="0"/>
                      </a:rPr>
                      <m:t>𝛥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𝛥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𝐠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e>
                </m:d>
                <m:r>
                  <a:rPr>
                    <a:latin typeface="Cambria Math" panose="02040503050406030204" pitchFamily="18" charset="0"/>
                  </a:rPr>
                  <m:t>≈0</m:t>
                </m:r>
              </m:oMath>
            </a14:m>
            <a:r>
              <a:t> 时，计算误差比较大。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11.4</a:t>
            </a:r>
          </a:p>
          <a:p>
            <a:pPr marL="0" lvl="0" indent="0">
              <a:buNone/>
            </a:pPr>
            <a:r>
              <a:t>DFP Algorithm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11.5</a:t>
            </a:r>
          </a:p>
          <a:p>
            <a:pPr marL="0" lvl="0" indent="0">
              <a:buNone/>
            </a:pPr>
            <a:r>
              <a:t>BFGS Algorithm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12 求解线性方程组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12.1</a:t>
            </a:r>
          </a:p>
          <a:p>
            <a:pPr marL="0" lvl="0" indent="0">
              <a:buNone/>
            </a:pPr>
            <a:r>
              <a:t>最小二乘分析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𝐀</m:t>
                </m:r>
                <m:r>
                  <a:rPr>
                    <a:latin typeface="Cambria Math" panose="02040503050406030204" pitchFamily="18" charset="0"/>
                  </a:rPr>
                  <m:t>∈</m:t>
                </m:r>
                <m:sSup>
                  <m:sSupPr>
                    <m:ctrlPr>
                      <a:rPr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×</m:t>
                    </m:r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</m:sup>
                </m:sSup>
                <m:r>
                  <a:rPr>
                    <a:latin typeface="Cambria Math" panose="02040503050406030204" pitchFamily="18" charset="0"/>
                  </a:rPr>
                  <m:t>,</m:t>
                </m:r>
                <m:r>
                  <a:rPr>
                    <a:latin typeface="Cambria Math" panose="02040503050406030204" pitchFamily="18" charset="0"/>
                  </a:rPr>
                  <m:t>𝑟𝑎𝑛𝑘</m:t>
                </m:r>
                <m:r>
                  <a:rPr>
                    <a:latin typeface="Cambria Math" panose="02040503050406030204" pitchFamily="18" charset="0"/>
                  </a:rPr>
                  <m:t>𝐀</m:t>
                </m:r>
                <m:r>
                  <a:rPr>
                    <a:latin typeface="Cambria Math" panose="02040503050406030204" pitchFamily="18" charset="0"/>
                  </a:rPr>
                  <m:t>=</m:t>
                </m:r>
                <m:r>
                  <a:rPr>
                    <a:latin typeface="Cambria Math" panose="02040503050406030204" pitchFamily="18" charset="0"/>
                  </a:rPr>
                  <m:t>𝑛</m:t>
                </m:r>
                <m:r>
                  <a:rPr>
                    <a:latin typeface="Cambria Math" panose="02040503050406030204" pitchFamily="18" charset="0"/>
                  </a:rPr>
                  <m:t>,</m:t>
                </m:r>
                <m:r>
                  <a:rPr>
                    <a:latin typeface="Cambria Math" panose="02040503050406030204" pitchFamily="18" charset="0"/>
                  </a:rPr>
                  <m:t>𝐛</m:t>
                </m:r>
                <m:r>
                  <a:rPr>
                    <a:latin typeface="Cambria Math" panose="02040503050406030204" pitchFamily="18" charset="0"/>
                  </a:rPr>
                  <m:t>∈</m:t>
                </m:r>
                <m:sSup>
                  <m:sSupPr>
                    <m:ctrlPr>
                      <a:rPr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</m:sup>
                </m:sSup>
                <m:r>
                  <a:rPr>
                    <a:latin typeface="Cambria Math" panose="02040503050406030204" pitchFamily="18" charset="0"/>
                  </a:rPr>
                  <m:t>,</m:t>
                </m:r>
                <m:r>
                  <a:rPr>
                    <a:latin typeface="Cambria Math" panose="02040503050406030204" pitchFamily="18" charset="0"/>
                  </a:rPr>
                  <m:t>𝑚</m:t>
                </m:r>
                <m:r>
                  <a:rPr>
                    <a:latin typeface="Cambria Math" panose="02040503050406030204" pitchFamily="18" charset="0"/>
                  </a:rPr>
                  <m:t>≥</m:t>
                </m:r>
                <m:r>
                  <a:rPr>
                    <a:latin typeface="Cambria Math" panose="02040503050406030204" pitchFamily="18" charset="0"/>
                  </a:rPr>
                  <m:t>𝑛</m:t>
                </m:r>
              </m:oMath>
            </a14:m>
            <a:r>
              <a:t>.</a:t>
            </a:r>
          </a:p>
          <a:p>
            <a:pPr marL="0" lvl="0" indent="0">
              <a:buNone/>
            </a:pPr>
            <a:r>
              <a:t>求解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𝐀𝐱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r>
                    <a:rPr>
                      <a:latin typeface="Cambria Math" panose="02040503050406030204" pitchFamily="18" charset="0"/>
                    </a:rPr>
                    <m:t>𝐛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p>
                    <m:s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𝐱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∗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=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𝑎𝑟𝑔𝑚𝑖𝑛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𝐱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∥</m:t>
                  </m:r>
                  <m:r>
                    <a:rPr>
                      <a:latin typeface="Cambria Math" panose="02040503050406030204" pitchFamily="18" charset="0"/>
                    </a:rPr>
                    <m:t>𝐀𝐱</m:t>
                  </m:r>
                  <m:r>
                    <a:rPr>
                      <a:latin typeface="Cambria Math" panose="02040503050406030204" pitchFamily="18" charset="0"/>
                    </a:rPr>
                    <m:t>−</m:t>
                  </m:r>
                  <m:r>
                    <a:rPr>
                      <a:latin typeface="Cambria Math" panose="02040503050406030204" pitchFamily="18" charset="0"/>
                    </a:rPr>
                    <m:t>𝐛</m:t>
                  </m:r>
                  <m:r>
                    <a:rPr>
                      <a:latin typeface="Cambria Math" panose="02040503050406030204" pitchFamily="18" charset="0"/>
                    </a:rPr>
                    <m:t>∥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引理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𝐀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mr>
                    <m:mr>
                      <m:e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𝑟𝑎𝑛𝑘𝐴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 ⇔ 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𝑟𝑎𝑛𝑘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𝐀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≠0</m:t>
                            </m:r>
                          </m:e>
                        </m:d>
                      </m:e>
                    </m:mr>
                  </m:m>
                </m:oMath>
              </m:oMathPara>
            </a14:m>
            <a:endParaRPr/>
          </a:p>
          <a:p>
            <a:pPr marL="0" lvl="0" indent="0">
              <a:buNone/>
            </a:pPr>
            <a:r>
              <a:t>PROOF: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12.2</a:t>
            </a:r>
          </a:p>
          <a:p>
            <a:pPr marL="0" lvl="0" indent="0">
              <a:buNone/>
            </a:pPr>
            <a:r>
              <a:t>递推最小二乘法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根据已有的数据求解得到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𝐱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∗</m:t>
                    </m:r>
                  </m:sup>
                </m:sSup>
              </m:oMath>
            </a14:m>
            <a:r>
              <a:t>，再根据更新的数据，求出更新的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𝐱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∗</m:t>
                    </m:r>
                  </m:sup>
                </m:sSup>
              </m:oMath>
            </a14:m>
            <a:endParaRPr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13 无约束优化问题和神经网络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13.1</a:t>
            </a:r>
          </a:p>
          <a:p>
            <a:pPr marL="0" lvl="0" indent="0">
              <a:buNone/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神经网络的核心是</a:t>
            </a:r>
            <a:r>
              <a:rPr b="1"/>
              <a:t>确定神经元之间连接的权重</a:t>
            </a:r>
            <a:r>
              <a:t>。这个确定的过程称为</a:t>
            </a:r>
            <a:r>
              <a:rPr b="1"/>
              <a:t>训练</a:t>
            </a:r>
            <a:r>
              <a:t>。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13.2</a:t>
            </a:r>
          </a:p>
          <a:p>
            <a:pPr marL="0" lvl="0" indent="0">
              <a:buNone/>
            </a:pPr>
            <a:r>
              <a:t>单个神经元训练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𝑦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nary>
                    <m:naryPr>
                      <m:chr m:val="∑"/>
                      <m:limLoc m:val="undOvr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=1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</m:sup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e>
                  </m:nary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sSup>
                    <m:s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𝐰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𝐱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𝐰</m:t>
                </m:r>
              </m:oMath>
            </a14:m>
            <a:r>
              <a:t> 称为权重向量，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𝐱</m:t>
                </m:r>
              </m:oMath>
            </a14:m>
            <a:r>
              <a:t> 称为输入向量。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选定一组数据集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m>
                    <m:mPr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/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𝐝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,2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</m:mr>
                    <m:mr>
                      <m:e/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𝐘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𝐝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,2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</m:mr>
                    <m:m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𝑚𝑖𝑛𝑖𝑚𝑖𝑧𝑒</m:t>
                        </m:r>
                      </m:e>
                      <m:e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</m:mr>
                  </m:m>
                </m:oMath>
              </m:oMathPara>
            </a14:m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2040</Words>
  <Application>Microsoft Office PowerPoint</Application>
  <PresentationFormat>全屏显示(16:9)</PresentationFormat>
  <Paragraphs>450</Paragraphs>
  <Slides>144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144</vt:i4>
      </vt:variant>
    </vt:vector>
  </HeadingPairs>
  <TitlesOfParts>
    <vt:vector size="149" baseType="lpstr">
      <vt:lpstr>Courier</vt:lpstr>
      <vt:lpstr>Arial</vt:lpstr>
      <vt:lpstr>Calibri</vt:lpstr>
      <vt:lpstr>Cambria Math</vt:lpstr>
      <vt:lpstr>Office Theme</vt:lpstr>
      <vt:lpstr>optimize1</vt:lpstr>
      <vt:lpstr>Optimization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optimize1</dc:title>
  <dc:creator/>
  <cp:keywords/>
  <cp:lastModifiedBy>zz Guo</cp:lastModifiedBy>
  <cp:revision>1</cp:revision>
  <dcterms:created xsi:type="dcterms:W3CDTF">2022-05-14T09:52:22Z</dcterms:created>
  <dcterms:modified xsi:type="dcterms:W3CDTF">2022-05-14T10:34:45Z</dcterms:modified>
</cp:coreProperties>
</file>